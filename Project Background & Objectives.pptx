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2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3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4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5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6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7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301" r:id="rId3"/>
    <p:sldId id="349" r:id="rId4"/>
    <p:sldId id="283" r:id="rId5"/>
    <p:sldId id="351" r:id="rId6"/>
    <p:sldId id="305" r:id="rId7"/>
    <p:sldId id="356" r:id="rId8"/>
    <p:sldId id="357" r:id="rId9"/>
    <p:sldId id="358" r:id="rId10"/>
    <p:sldId id="355" r:id="rId11"/>
    <p:sldId id="30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nayak" initials="v" lastIdx="13" clrIdx="0">
    <p:extLst>
      <p:ext uri="{19B8F6BF-5375-455C-9EA6-DF929625EA0E}">
        <p15:presenceInfo xmlns:p15="http://schemas.microsoft.com/office/powerpoint/2012/main" userId="vinaya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F0C8"/>
    <a:srgbClr val="E6E6E6"/>
    <a:srgbClr val="CAE8AA"/>
    <a:srgbClr val="BEE396"/>
    <a:srgbClr val="7CBF33"/>
    <a:srgbClr val="FFEEDD"/>
    <a:srgbClr val="FEB8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>
      <p:cViewPr varScale="1">
        <p:scale>
          <a:sx n="109" d="100"/>
          <a:sy n="109" d="100"/>
        </p:scale>
        <p:origin x="147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285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39479-9125-4966-B8FF-988A49BE9300}" type="datetimeFigureOut">
              <a:rPr lang="en-US" smtClean="0"/>
              <a:t>7/5/24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12C81-EC3D-4E29-A33E-54A728F8E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508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B208B-13CA-41BC-BEED-A35E321F7644}" type="datetimeFigureOut">
              <a:rPr lang="en-US" smtClean="0"/>
              <a:t>7/5/24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78808-0F9F-4F32-83AA-193B6757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1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603AEC-A682-4293-84F7-94DEEB082D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9657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378808-0F9F-4F32-83AA-193B6757D8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078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378808-0F9F-4F32-83AA-193B6757D8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919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603AEC-A682-4293-84F7-94DEEB082D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316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603AEC-A682-4293-84F7-94DEEB082D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8847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603AEC-A682-4293-84F7-94DEEB082D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4298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603AEC-A682-4293-84F7-94DEEB082D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965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4F34F9-F9B8-45B5-B52C-3FFE2C016DA5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31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A441-B736-4CEB-8BE3-9DBD92F14918}" type="datetime1">
              <a:rPr lang="en-US" smtClean="0"/>
              <a:t>7/5/24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8FA2-DEB0-4FE6-B9C2-E432F3B00933}" type="datetime1">
              <a:rPr lang="en-US" smtClean="0"/>
              <a:t>7/5/24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2DDA8-426B-4199-B692-FA55E00C14E0}" type="datetime1">
              <a:rPr lang="en-US" smtClean="0"/>
              <a:t>7/5/24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3501-102C-4D96-A20F-6539349A4B4A}" type="datetime1">
              <a:rPr lang="en-US" smtClean="0"/>
              <a:t>7/5/24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1C4A-4CD2-4860-82C2-F2F0898BB523}" type="datetime1">
              <a:rPr lang="en-US" smtClean="0"/>
              <a:t>7/5/24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39F4-D4F8-4E48-8450-24C3EEB81FDE}" type="datetime1">
              <a:rPr lang="en-US" smtClean="0"/>
              <a:t>7/5/24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44E4-0678-4D5A-B2ED-37E409B74207}" type="datetime1">
              <a:rPr lang="en-US" smtClean="0"/>
              <a:t>7/5/24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D35B-4571-449F-A845-D5680EAC2747}" type="datetime1">
              <a:rPr lang="en-US" smtClean="0"/>
              <a:t>7/5/24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CDCA9-3E9B-4CF5-A449-7BB0A7A707C1}" type="datetime1">
              <a:rPr lang="en-US" smtClean="0"/>
              <a:t>7/5/24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55E9-42FF-42F1-B10A-68C5665F8B5A}" type="datetime1">
              <a:rPr lang="en-US" smtClean="0"/>
              <a:t>7/5/24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7694-14C8-4B5A-BC7B-08D3A5AEDD1B}" type="datetime1">
              <a:rPr lang="en-US" smtClean="0"/>
              <a:t>7/5/24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  <p:custDataLst>
              <p:tags r:id="rId5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117504"/>
      </p:ext>
    </p:extLst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Eras Demi ITC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>
            <a:lvl1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1pPr>
            <a:lvl2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2pPr>
            <a:lvl3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3pPr>
            <a:lvl4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4pPr>
            <a:lvl5pPr>
              <a:defRPr lang="en-US" sz="2000" dirty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lang="es-ES" sz="1600" dirty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1pPr>
          </a:lstStyle>
          <a:p>
            <a:endParaRPr lang="en-US" dirty="0">
              <a:solidFill>
                <a:srgbClr val="475A8D">
                  <a:lumMod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s-ES" sz="1600" kern="1200" dirty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1pPr>
          </a:lstStyle>
          <a:p>
            <a:endParaRPr lang="en-US" dirty="0">
              <a:solidFill>
                <a:srgbClr val="475A8D">
                  <a:lumMod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  <p:custDataLst>
              <p:tags r:id="rId5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7649"/>
      </p:ext>
    </p:extLst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  <p:custDataLst>
              <p:tags r:id="rId1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48871"/>
      </p:ext>
    </p:extLst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  <p:custDataLst>
              <p:tags r:id="rId1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05680"/>
      </p:ext>
    </p:extLst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  <p:custDataLst>
              <p:tags r:id="rId1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290914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14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16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15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86115"/>
            <a:ext cx="8229600" cy="780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59DF8C20-FD34-4897-8F3C-10CB74DB31B7}" type="datetime1">
              <a:rPr lang="en-US" smtClean="0"/>
              <a:t>7/5/24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  <p:custDataLst>
              <p:tags r:id="rId7"/>
            </p:custDataLst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  <p:custDataLst>
              <p:tags r:id="rId8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  <p:custDataLst>
              <p:tags r:id="rId9"/>
            </p:custDataLst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  <p:custDataLst>
              <p:tags r:id="rId10"/>
            </p:custDataLst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  <p:custDataLst>
              <p:tags r:id="rId11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288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>
    <p:push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lang="es-ES" sz="4400" dirty="0" smtClean="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.xlsx"/><Relationship Id="rId3" Type="http://schemas.openxmlformats.org/officeDocument/2006/relationships/tags" Target="../tags/tag33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32.xml"/><Relationship Id="rId1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1.xlsx"/><Relationship Id="rId3" Type="http://schemas.openxmlformats.org/officeDocument/2006/relationships/tags" Target="../tags/tag37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36.xml"/><Relationship Id="rId1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9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2.xlsx"/><Relationship Id="rId3" Type="http://schemas.openxmlformats.org/officeDocument/2006/relationships/tags" Target="../tags/tag41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40.xml"/><Relationship Id="rId1" Type="http://schemas.openxmlformats.org/officeDocument/2006/relationships/vmlDrawing" Target="../drawings/vmlDrawing3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9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3.xlsx"/><Relationship Id="rId3" Type="http://schemas.openxmlformats.org/officeDocument/2006/relationships/tags" Target="../tags/tag45.xml"/><Relationship Id="rId7" Type="http://schemas.openxmlformats.org/officeDocument/2006/relationships/notesSlide" Target="../notesSlides/notesSlide7.xml"/><Relationship Id="rId2" Type="http://schemas.openxmlformats.org/officeDocument/2006/relationships/tags" Target="../tags/tag44.xml"/><Relationship Id="rId1" Type="http://schemas.openxmlformats.org/officeDocument/2006/relationships/vmlDrawing" Target="../drawings/vmlDrawing4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9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2.wdp"/><Relationship Id="rId3" Type="http://schemas.openxmlformats.org/officeDocument/2006/relationships/tags" Target="../tags/tag50.xml"/><Relationship Id="rId7" Type="http://schemas.openxmlformats.org/officeDocument/2006/relationships/image" Target="../media/image7.svg"/><Relationship Id="rId12" Type="http://schemas.openxmlformats.org/officeDocument/2006/relationships/image" Target="../media/image11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6.png"/><Relationship Id="rId11" Type="http://schemas.microsoft.com/office/2007/relationships/hdphoto" Target="../media/hdphoto1.wdp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0.png"/><Relationship Id="rId4" Type="http://schemas.openxmlformats.org/officeDocument/2006/relationships/tags" Target="../tags/tag51.xml"/><Relationship Id="rId9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>
            <p:custDataLst>
              <p:tags r:id="rId1"/>
            </p:custDataLst>
          </p:nvPr>
        </p:nvSpPr>
        <p:spPr>
          <a:xfrm>
            <a:off x="0" y="5791200"/>
            <a:ext cx="3156758" cy="4692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3386141" y="5791200"/>
            <a:ext cx="2371719" cy="469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sp>
        <p:nvSpPr>
          <p:cNvPr id="9" name="Rectangle 8"/>
          <p:cNvSpPr/>
          <p:nvPr>
            <p:custDataLst>
              <p:tags r:id="rId3"/>
            </p:custDataLst>
          </p:nvPr>
        </p:nvSpPr>
        <p:spPr>
          <a:xfrm>
            <a:off x="5987242" y="5791200"/>
            <a:ext cx="3156758" cy="4692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69B4DB-897F-428E-99EC-A4064FACEDB5}"/>
              </a:ext>
            </a:extLst>
          </p:cNvPr>
          <p:cNvSpPr/>
          <p:nvPr/>
        </p:nvSpPr>
        <p:spPr>
          <a:xfrm>
            <a:off x="0" y="-27384"/>
            <a:ext cx="9144000" cy="98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7EEC1-FCC3-4109-8907-5A5F6A9EF0E2}"/>
              </a:ext>
            </a:extLst>
          </p:cNvPr>
          <p:cNvSpPr txBox="1"/>
          <p:nvPr/>
        </p:nvSpPr>
        <p:spPr>
          <a:xfrm>
            <a:off x="101622" y="2057400"/>
            <a:ext cx="88137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  <a:latin typeface="+mj-lt"/>
              </a:rPr>
              <a:t>Capstone Project </a:t>
            </a:r>
          </a:p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</a:rPr>
              <a:t>(Background and Objectives)</a:t>
            </a:r>
            <a:r>
              <a:rPr lang="en-IN" sz="54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335C99-9572-4F87-BDD7-6F02D82470E9}"/>
              </a:ext>
            </a:extLst>
          </p:cNvPr>
          <p:cNvSpPr txBox="1"/>
          <p:nvPr/>
        </p:nvSpPr>
        <p:spPr>
          <a:xfrm>
            <a:off x="457200" y="4078069"/>
            <a:ext cx="8458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j-lt"/>
              </a:rPr>
              <a:t>Global Stock Markets Analytics: To study the global markets &amp; understand which markets have an impact on Nifty50</a:t>
            </a:r>
          </a:p>
        </p:txBody>
      </p:sp>
    </p:spTree>
    <p:extLst>
      <p:ext uri="{BB962C8B-B14F-4D97-AF65-F5344CB8AC3E}">
        <p14:creationId xmlns:p14="http://schemas.microsoft.com/office/powerpoint/2010/main" val="250337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A1576-6C21-4CF0-BD16-55B8C4918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E7636A-7054-45E5-98A3-39B9C169EB30}"/>
              </a:ext>
            </a:extLst>
          </p:cNvPr>
          <p:cNvSpPr txBox="1">
            <a:spLocks/>
          </p:cNvSpPr>
          <p:nvPr/>
        </p:nvSpPr>
        <p:spPr bwMode="auto">
          <a:xfrm>
            <a:off x="457200" y="207457"/>
            <a:ext cx="8229600" cy="78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Eras Demi ITC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IN" sz="2900" b="1" kern="0" dirty="0">
                <a:solidFill>
                  <a:schemeClr val="accent1"/>
                </a:solidFill>
                <a:latin typeface="+mj-lt"/>
              </a:rPr>
              <a:t>Background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ED49D5-472F-4321-9EF2-A93B3937344B}"/>
              </a:ext>
            </a:extLst>
          </p:cNvPr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AD7951B-615C-4FEF-8551-F05CA0F11C78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077548-3388-4723-923F-8D5A3D53196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FE2DF8-6118-464E-8CB7-AC633FEE657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939B065-F25E-46E3-B1DC-F6A09086DCCB}"/>
              </a:ext>
            </a:extLst>
          </p:cNvPr>
          <p:cNvSpPr/>
          <p:nvPr/>
        </p:nvSpPr>
        <p:spPr>
          <a:xfrm>
            <a:off x="140903" y="1295400"/>
            <a:ext cx="90030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fontAlgn="base">
              <a:lnSpc>
                <a:spcPct val="100000"/>
              </a:lnSpc>
              <a:spcAft>
                <a:spcPct val="0"/>
              </a:spcAft>
              <a:buAutoNum type="arabicPeriod"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Market : </a:t>
            </a:r>
          </a:p>
          <a:p>
            <a:pPr fontAlgn="base">
              <a:spcAft>
                <a:spcPct val="0"/>
              </a:spcAft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Global Market Indices : Nifty50, Dow Jones Index, </a:t>
            </a:r>
            <a:r>
              <a:rPr lang="en-US" b="1" kern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Hangseng</a:t>
            </a: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Index, DAX Index</a:t>
            </a:r>
          </a:p>
          <a:p>
            <a:pPr fontAlgn="base">
              <a:spcAft>
                <a:spcPct val="0"/>
              </a:spcAft>
            </a:pPr>
            <a:endParaRPr lang="en-US" b="1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28600" indent="-228600" fontAlgn="base">
              <a:lnSpc>
                <a:spcPct val="100000"/>
              </a:lnSpc>
              <a:spcAft>
                <a:spcPct val="0"/>
              </a:spcAft>
              <a:buFont typeface="+mj-lt"/>
              <a:buAutoNum type="arabicPeriod" startAt="2"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Background</a:t>
            </a:r>
          </a:p>
          <a:p>
            <a:pPr lvl="0" fontAlgn="base">
              <a:spcAft>
                <a:spcPct val="0"/>
              </a:spcAft>
              <a:defRPr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Four Global Market Indices. Daily movement of these markets over past 6 years since 2017 can be  observed. </a:t>
            </a:r>
          </a:p>
          <a:p>
            <a:pPr lvl="0" fontAlgn="base">
              <a:spcAft>
                <a:spcPct val="0"/>
              </a:spcAft>
              <a:defRPr/>
            </a:pPr>
            <a:r>
              <a:rPr lang="en-US" b="1" kern="0" dirty="0">
                <a:solidFill>
                  <a:prstClr val="black">
                    <a:lumMod val="50000"/>
                    <a:lumOff val="50000"/>
                  </a:prstClr>
                </a:solidFill>
              </a:rPr>
              <a:t>The markets open in the following order everyday </a:t>
            </a:r>
            <a:r>
              <a:rPr lang="en-US" b="1" kern="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Hangseng</a:t>
            </a:r>
            <a:r>
              <a:rPr lang="en-US" b="1" kern="0" dirty="0">
                <a:solidFill>
                  <a:prstClr val="black">
                    <a:lumMod val="50000"/>
                    <a:lumOff val="50000"/>
                  </a:prstClr>
                </a:solidFill>
              </a:rPr>
              <a:t> , Nifty50 ,  Dow Jones Index &amp; DAX Index due to different </a:t>
            </a:r>
            <a:r>
              <a:rPr lang="en-US" b="1" kern="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timezones</a:t>
            </a:r>
            <a:r>
              <a:rPr lang="en-US" b="1" kern="0" dirty="0">
                <a:solidFill>
                  <a:prstClr val="black">
                    <a:lumMod val="50000"/>
                    <a:lumOff val="50000"/>
                  </a:prstClr>
                </a:solidFill>
              </a:rPr>
              <a:t>.</a:t>
            </a:r>
          </a:p>
          <a:p>
            <a:pPr lvl="0" fontAlgn="base">
              <a:spcAft>
                <a:spcPct val="0"/>
              </a:spcAft>
              <a:defRPr/>
            </a:pPr>
            <a:r>
              <a:rPr lang="en-US" b="1" kern="0" dirty="0">
                <a:solidFill>
                  <a:prstClr val="black">
                    <a:lumMod val="50000"/>
                    <a:lumOff val="50000"/>
                  </a:prstClr>
                </a:solidFill>
              </a:rPr>
              <a:t>Also with the Covid-19 Pandemic , each of these indices have been impacted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620B366-FB15-4876-90AF-A434734C4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r="2221"/>
          <a:stretch/>
        </p:blipFill>
        <p:spPr>
          <a:xfrm>
            <a:off x="4958748" y="3962401"/>
            <a:ext cx="4185251" cy="2895600"/>
          </a:xfrm>
        </p:spPr>
      </p:pic>
    </p:spTree>
    <p:extLst>
      <p:ext uri="{BB962C8B-B14F-4D97-AF65-F5344CB8AC3E}">
        <p14:creationId xmlns:p14="http://schemas.microsoft.com/office/powerpoint/2010/main" val="1241764357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5" name="Rectangle 4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BBF1D24-B7A1-4395-961C-C2199D7D7C20}"/>
              </a:ext>
            </a:extLst>
          </p:cNvPr>
          <p:cNvSpPr txBox="1">
            <a:spLocks/>
          </p:cNvSpPr>
          <p:nvPr/>
        </p:nvSpPr>
        <p:spPr bwMode="auto">
          <a:xfrm>
            <a:off x="457200" y="207457"/>
            <a:ext cx="8229600" cy="78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2900" b="1" ker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IN" dirty="0"/>
              <a:t>Background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7F46DCCB-0BE6-4E22-B5B9-299BF8DA4AE5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6200" y="3429000"/>
            <a:ext cx="5294668" cy="47329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fontAlgn="base">
              <a:lnSpc>
                <a:spcPct val="100000"/>
              </a:lnSpc>
              <a:spcAft>
                <a:spcPct val="0"/>
              </a:spcAft>
              <a:buFont typeface="+mj-lt"/>
              <a:buAutoNum type="arabicPeriod" startAt="3"/>
            </a:pPr>
            <a:endParaRPr lang="en-US" sz="1800" b="1" kern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C7218-D7E3-45AD-9C1A-949990A60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385439"/>
            <a:ext cx="8839200" cy="4525963"/>
          </a:xfrm>
        </p:spPr>
        <p:txBody>
          <a:bodyPr/>
          <a:lstStyle/>
          <a:p>
            <a:pPr marL="228600" indent="-228600" fontAlgn="base">
              <a:lnSpc>
                <a:spcPct val="100000"/>
              </a:lnSpc>
              <a:spcAft>
                <a:spcPct val="0"/>
              </a:spcAft>
              <a:buFont typeface="+mj-lt"/>
              <a:buAutoNum type="arabicPeriod" startAt="3"/>
            </a:pPr>
            <a:r>
              <a:rPr lang="en-US" sz="1800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Objectives</a:t>
            </a:r>
          </a:p>
          <a:p>
            <a:pPr marL="400050" lvl="1" indent="0" fontAlgn="base">
              <a:lnSpc>
                <a:spcPct val="100000"/>
              </a:lnSpc>
              <a:spcAft>
                <a:spcPct val="0"/>
              </a:spcAft>
              <a:buNone/>
            </a:pPr>
            <a:r>
              <a:rPr lang="en-US" sz="1800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objective of the study is three fold :</a:t>
            </a:r>
          </a:p>
          <a:p>
            <a:pPr marL="685800" lvl="1" fontAlgn="base">
              <a:lnSpc>
                <a:spcPct val="100000"/>
              </a:lnSpc>
              <a:spcAft>
                <a:spcPct val="0"/>
              </a:spcAft>
            </a:pPr>
            <a:r>
              <a:rPr lang="en-US" sz="1800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</a:t>
            </a:r>
            <a:r>
              <a:rPr lang="en-US" sz="1800" b="1" kern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analyse</a:t>
            </a:r>
            <a:r>
              <a:rPr lang="en-US" sz="1800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800" b="1" kern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returns,volatility</a:t>
            </a:r>
            <a:r>
              <a:rPr lang="en-US" sz="1800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correlations existent among markets (Pre and Post the </a:t>
            </a:r>
            <a:r>
              <a:rPr lang="en-US" sz="1800" b="1" kern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covid</a:t>
            </a:r>
            <a:r>
              <a:rPr lang="en-US" sz="1800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impact) &amp; the direct impact each market has on other</a:t>
            </a:r>
          </a:p>
          <a:p>
            <a:pPr marL="685800" lvl="1" fontAlgn="base">
              <a:lnSpc>
                <a:spcPct val="100000"/>
              </a:lnSpc>
              <a:spcAft>
                <a:spcPct val="0"/>
              </a:spcAft>
            </a:pPr>
            <a:r>
              <a:rPr lang="en-US" sz="1800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predict next day Open/Close Price for Nifty50 Index also capture the effect of global market on Indian Market</a:t>
            </a:r>
          </a:p>
          <a:p>
            <a:pPr marL="685800" lvl="1" fontAlgn="base">
              <a:lnSpc>
                <a:spcPct val="100000"/>
              </a:lnSpc>
              <a:spcAft>
                <a:spcPct val="0"/>
              </a:spcAft>
            </a:pPr>
            <a:r>
              <a:rPr lang="en-US" sz="1800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the sentiment of the Global market using Twitter Data</a:t>
            </a:r>
            <a:endParaRPr lang="en-US" sz="1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5" name="Content Placeholder 16">
            <a:extLst>
              <a:ext uri="{FF2B5EF4-FFF2-40B4-BE49-F238E27FC236}">
                <a16:creationId xmlns:a16="http://schemas.microsoft.com/office/drawing/2014/main" id="{74FA563E-8F02-4D39-BC3B-9A862075606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r="2221"/>
          <a:stretch/>
        </p:blipFill>
        <p:spPr>
          <a:xfrm>
            <a:off x="4958748" y="3962401"/>
            <a:ext cx="4185251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32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5" name="Rectangle 4"/>
            <p:cNvSpPr/>
            <p:nvPr>
              <p:custDataLst>
                <p:tags r:id="rId1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>
              <p:custDataLst>
                <p:tags r:id="rId2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>
              <p:custDataLst>
                <p:tags r:id="rId3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BBF1D24-B7A1-4395-961C-C2199D7D7C20}"/>
              </a:ext>
            </a:extLst>
          </p:cNvPr>
          <p:cNvSpPr txBox="1">
            <a:spLocks/>
          </p:cNvSpPr>
          <p:nvPr/>
        </p:nvSpPr>
        <p:spPr bwMode="auto">
          <a:xfrm>
            <a:off x="457200" y="207457"/>
            <a:ext cx="8229600" cy="78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Eras Demi ITC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IN" sz="2900" b="1" kern="0" dirty="0">
                <a:solidFill>
                  <a:schemeClr val="accent1"/>
                </a:solidFill>
                <a:latin typeface="+mj-lt"/>
              </a:rPr>
              <a:t>Background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6855EE-3E97-4E89-997D-B24D19F54E16}"/>
              </a:ext>
            </a:extLst>
          </p:cNvPr>
          <p:cNvSpPr txBox="1"/>
          <p:nvPr/>
        </p:nvSpPr>
        <p:spPr>
          <a:xfrm>
            <a:off x="76200" y="1573908"/>
            <a:ext cx="906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Data </a:t>
            </a:r>
          </a:p>
          <a:p>
            <a:pPr fontAlgn="base">
              <a:spcAft>
                <a:spcPct val="0"/>
              </a:spcAft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OHLC (Open, High, Low, Close) data for the period 01-01-2017 to 31-10-2023 is considered</a:t>
            </a:r>
          </a:p>
          <a:p>
            <a:pPr fontAlgn="base">
              <a:spcAft>
                <a:spcPct val="0"/>
              </a:spcAft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data available is the following :</a:t>
            </a:r>
          </a:p>
          <a:p>
            <a:pPr marL="342900" indent="-342900" fontAlgn="base">
              <a:spcAft>
                <a:spcPct val="0"/>
              </a:spcAft>
              <a:buAutoNum type="arabicPeriod"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OHLC data of Nifty50 (NSEI)</a:t>
            </a:r>
          </a:p>
          <a:p>
            <a:pPr marL="342900" indent="-342900" fontAlgn="base">
              <a:spcAft>
                <a:spcPct val="0"/>
              </a:spcAft>
              <a:buFontTx/>
              <a:buAutoNum type="arabicPeriod"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 data of Dow Jones Index (DJI)</a:t>
            </a:r>
          </a:p>
          <a:p>
            <a:pPr marL="342900" indent="-342900" fontAlgn="base">
              <a:spcAft>
                <a:spcPct val="0"/>
              </a:spcAft>
              <a:buFontTx/>
              <a:buAutoNum type="arabicPeriod"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OC data of </a:t>
            </a:r>
            <a:r>
              <a:rPr lang="en-US" b="1" kern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Hangseng</a:t>
            </a: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(HSI)</a:t>
            </a:r>
          </a:p>
          <a:p>
            <a:pPr marL="342900" indent="-342900" fontAlgn="base">
              <a:spcAft>
                <a:spcPct val="0"/>
              </a:spcAft>
              <a:buFontTx/>
              <a:buAutoNum type="arabicPeriod"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 data of DAX Index (GDAXI)</a:t>
            </a:r>
          </a:p>
          <a:p>
            <a:endParaRPr lang="en-IN" dirty="0"/>
          </a:p>
        </p:txBody>
      </p:sp>
      <p:pic>
        <p:nvPicPr>
          <p:cNvPr id="15" name="Content Placeholder 16">
            <a:extLst>
              <a:ext uri="{FF2B5EF4-FFF2-40B4-BE49-F238E27FC236}">
                <a16:creationId xmlns:a16="http://schemas.microsoft.com/office/drawing/2014/main" id="{F0B86920-EFE3-4604-8FD6-7D95A4A2D18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r="2221"/>
          <a:stretch/>
        </p:blipFill>
        <p:spPr>
          <a:xfrm>
            <a:off x="4958748" y="3962401"/>
            <a:ext cx="4185251" cy="2895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1FC922-A9F1-41EC-B133-BE1D8291D66D}"/>
              </a:ext>
            </a:extLst>
          </p:cNvPr>
          <p:cNvSpPr txBox="1"/>
          <p:nvPr/>
        </p:nvSpPr>
        <p:spPr>
          <a:xfrm>
            <a:off x="685800" y="6553200"/>
            <a:ext cx="4038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*Data Source : Yahoo Finance</a:t>
            </a:r>
          </a:p>
        </p:txBody>
      </p:sp>
    </p:spTree>
    <p:extLst>
      <p:ext uri="{BB962C8B-B14F-4D97-AF65-F5344CB8AC3E}">
        <p14:creationId xmlns:p14="http://schemas.microsoft.com/office/powerpoint/2010/main" val="1204223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765F95F-DB50-4FF0-B057-50791AA4FB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404384"/>
              </p:ext>
            </p:extLst>
          </p:nvPr>
        </p:nvGraphicFramePr>
        <p:xfrm>
          <a:off x="1752600" y="2647950"/>
          <a:ext cx="5335906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Worksheet" r:id="rId8" imgW="4008049" imgH="2933810" progId="Excel.Sheet.12">
                  <p:embed/>
                </p:oleObj>
              </mc:Choice>
              <mc:Fallback>
                <p:oleObj name="Worksheet" r:id="rId8" imgW="4008049" imgH="293381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52600" y="2647950"/>
                        <a:ext cx="5335906" cy="3905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1235"/>
            <a:ext cx="8229600" cy="810805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IN" sz="2900" kern="0" dirty="0">
                <a:solidFill>
                  <a:schemeClr val="accent1"/>
                </a:solidFill>
              </a:rPr>
              <a:t>Data : NSEI</a:t>
            </a:r>
            <a:endParaRPr lang="en-US" sz="2900" kern="0" dirty="0">
              <a:solidFill>
                <a:schemeClr val="accent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3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4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5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21212" y="1371601"/>
            <a:ext cx="8517988" cy="1066800"/>
            <a:chOff x="762000" y="2322459"/>
            <a:chExt cx="7315200" cy="1287523"/>
          </a:xfrm>
        </p:grpSpPr>
        <p:sp>
          <p:nvSpPr>
            <p:cNvPr id="6" name="Freeform 5"/>
            <p:cNvSpPr/>
            <p:nvPr/>
          </p:nvSpPr>
          <p:spPr>
            <a:xfrm>
              <a:off x="762000" y="2575679"/>
              <a:ext cx="7315200" cy="1034303"/>
            </a:xfrm>
            <a:custGeom>
              <a:avLst/>
              <a:gdLst>
                <a:gd name="connsiteX0" fmla="*/ 0 w 7315200"/>
                <a:gd name="connsiteY0" fmla="*/ 0 h 750269"/>
                <a:gd name="connsiteX1" fmla="*/ 7315200 w 7315200"/>
                <a:gd name="connsiteY1" fmla="*/ 0 h 750269"/>
                <a:gd name="connsiteX2" fmla="*/ 7315200 w 7315200"/>
                <a:gd name="connsiteY2" fmla="*/ 750269 h 750269"/>
                <a:gd name="connsiteX3" fmla="*/ 0 w 7315200"/>
                <a:gd name="connsiteY3" fmla="*/ 750269 h 750269"/>
                <a:gd name="connsiteX4" fmla="*/ 0 w 7315200"/>
                <a:gd name="connsiteY4" fmla="*/ 0 h 750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5200" h="750269">
                  <a:moveTo>
                    <a:pt x="0" y="0"/>
                  </a:moveTo>
                  <a:lnTo>
                    <a:pt x="7315200" y="0"/>
                  </a:lnTo>
                  <a:lnTo>
                    <a:pt x="7315200" y="750269"/>
                  </a:lnTo>
                  <a:lnTo>
                    <a:pt x="0" y="75026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7741" tIns="249936" rIns="567741" bIns="113792" numCol="1" spcCol="1270" anchor="t" anchorCtr="0">
              <a:noAutofit/>
            </a:bodyPr>
            <a:lstStyle/>
            <a:p>
              <a:pPr lvl="0">
                <a:defRPr/>
              </a:pP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This data gives the OHLC values of NIFTY50 Index for the period 01-01-2017 to 31-10-2023</a:t>
              </a:r>
              <a:endPara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1127760" y="2322459"/>
              <a:ext cx="1846553" cy="420742"/>
            </a:xfrm>
            <a:custGeom>
              <a:avLst/>
              <a:gdLst>
                <a:gd name="connsiteX0" fmla="*/ 0 w 1846553"/>
                <a:gd name="connsiteY0" fmla="*/ 70125 h 420742"/>
                <a:gd name="connsiteX1" fmla="*/ 70125 w 1846553"/>
                <a:gd name="connsiteY1" fmla="*/ 0 h 420742"/>
                <a:gd name="connsiteX2" fmla="*/ 1776428 w 1846553"/>
                <a:gd name="connsiteY2" fmla="*/ 0 h 420742"/>
                <a:gd name="connsiteX3" fmla="*/ 1846553 w 1846553"/>
                <a:gd name="connsiteY3" fmla="*/ 70125 h 420742"/>
                <a:gd name="connsiteX4" fmla="*/ 1846553 w 1846553"/>
                <a:gd name="connsiteY4" fmla="*/ 350617 h 420742"/>
                <a:gd name="connsiteX5" fmla="*/ 1776428 w 1846553"/>
                <a:gd name="connsiteY5" fmla="*/ 420742 h 420742"/>
                <a:gd name="connsiteX6" fmla="*/ 70125 w 1846553"/>
                <a:gd name="connsiteY6" fmla="*/ 420742 h 420742"/>
                <a:gd name="connsiteX7" fmla="*/ 0 w 1846553"/>
                <a:gd name="connsiteY7" fmla="*/ 350617 h 420742"/>
                <a:gd name="connsiteX8" fmla="*/ 0 w 1846553"/>
                <a:gd name="connsiteY8" fmla="*/ 70125 h 42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6553" h="420742">
                  <a:moveTo>
                    <a:pt x="0" y="70125"/>
                  </a:moveTo>
                  <a:cubicBezTo>
                    <a:pt x="0" y="31396"/>
                    <a:pt x="31396" y="0"/>
                    <a:pt x="70125" y="0"/>
                  </a:cubicBezTo>
                  <a:lnTo>
                    <a:pt x="1776428" y="0"/>
                  </a:lnTo>
                  <a:cubicBezTo>
                    <a:pt x="1815157" y="0"/>
                    <a:pt x="1846553" y="31396"/>
                    <a:pt x="1846553" y="70125"/>
                  </a:cubicBezTo>
                  <a:lnTo>
                    <a:pt x="1846553" y="350617"/>
                  </a:lnTo>
                  <a:cubicBezTo>
                    <a:pt x="1846553" y="389346"/>
                    <a:pt x="1815157" y="420742"/>
                    <a:pt x="1776428" y="420742"/>
                  </a:cubicBezTo>
                  <a:lnTo>
                    <a:pt x="70125" y="420742"/>
                  </a:lnTo>
                  <a:cubicBezTo>
                    <a:pt x="31396" y="420742"/>
                    <a:pt x="0" y="389346"/>
                    <a:pt x="0" y="350617"/>
                  </a:cubicBezTo>
                  <a:lnTo>
                    <a:pt x="0" y="7012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4087" tIns="20539" rIns="214087" bIns="20539" numCol="1" spcCol="1270" anchor="ctr" anchorCtr="0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brima"/>
                  <a:ea typeface="+mn-ea"/>
                  <a:cs typeface="Arial"/>
                </a:rPr>
                <a:t>Content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brima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9C3482A-B5A3-494D-A8C6-840448DFA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541994"/>
              </p:ext>
            </p:extLst>
          </p:nvPr>
        </p:nvGraphicFramePr>
        <p:xfrm>
          <a:off x="686151" y="4495800"/>
          <a:ext cx="8153400" cy="2183382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1621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8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93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Columns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Description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Type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Measurement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Possible values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dd-mm-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yyyy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NSEI_Open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Opening Price of Nifty50 on a particular day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 Values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NSEI_High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Highest Price of Nifty50 on a particular day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 Values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NSEI_Low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Lowest Price of Nifty50 on a particular day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 Values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1615251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NSEI_Close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Close Price of Nifty50 on a particular day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 Values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3545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21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4373A39-3A96-4D72-86EF-D3669155C5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262298"/>
              </p:ext>
            </p:extLst>
          </p:nvPr>
        </p:nvGraphicFramePr>
        <p:xfrm>
          <a:off x="3048000" y="2556666"/>
          <a:ext cx="2590800" cy="3770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name="Worksheet" r:id="rId8" imgW="1539169" imgH="2933810" progId="Excel.Sheet.12">
                  <p:embed/>
                </p:oleObj>
              </mc:Choice>
              <mc:Fallback>
                <p:oleObj name="Worksheet" r:id="rId8" imgW="1539169" imgH="293381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48000" y="2556666"/>
                        <a:ext cx="2590800" cy="37700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1235"/>
            <a:ext cx="8229600" cy="810805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IN" sz="2900" kern="0" dirty="0">
                <a:solidFill>
                  <a:schemeClr val="accent1"/>
                </a:solidFill>
              </a:rPr>
              <a:t>Data : DJI</a:t>
            </a:r>
            <a:endParaRPr lang="en-US" sz="2900" kern="0" dirty="0">
              <a:solidFill>
                <a:schemeClr val="accent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3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4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5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28600" y="1371601"/>
            <a:ext cx="8670388" cy="1066800"/>
            <a:chOff x="762000" y="2322459"/>
            <a:chExt cx="7315200" cy="1287523"/>
          </a:xfrm>
        </p:grpSpPr>
        <p:sp>
          <p:nvSpPr>
            <p:cNvPr id="6" name="Freeform 5"/>
            <p:cNvSpPr/>
            <p:nvPr/>
          </p:nvSpPr>
          <p:spPr>
            <a:xfrm>
              <a:off x="762000" y="2575679"/>
              <a:ext cx="7315200" cy="1034303"/>
            </a:xfrm>
            <a:custGeom>
              <a:avLst/>
              <a:gdLst>
                <a:gd name="connsiteX0" fmla="*/ 0 w 7315200"/>
                <a:gd name="connsiteY0" fmla="*/ 0 h 750269"/>
                <a:gd name="connsiteX1" fmla="*/ 7315200 w 7315200"/>
                <a:gd name="connsiteY1" fmla="*/ 0 h 750269"/>
                <a:gd name="connsiteX2" fmla="*/ 7315200 w 7315200"/>
                <a:gd name="connsiteY2" fmla="*/ 750269 h 750269"/>
                <a:gd name="connsiteX3" fmla="*/ 0 w 7315200"/>
                <a:gd name="connsiteY3" fmla="*/ 750269 h 750269"/>
                <a:gd name="connsiteX4" fmla="*/ 0 w 7315200"/>
                <a:gd name="connsiteY4" fmla="*/ 0 h 750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5200" h="750269">
                  <a:moveTo>
                    <a:pt x="0" y="0"/>
                  </a:moveTo>
                  <a:lnTo>
                    <a:pt x="7315200" y="0"/>
                  </a:lnTo>
                  <a:lnTo>
                    <a:pt x="7315200" y="750269"/>
                  </a:lnTo>
                  <a:lnTo>
                    <a:pt x="0" y="75026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7741" tIns="249936" rIns="567741" bIns="113792" numCol="1" spcCol="1270" anchor="t" anchorCtr="0">
              <a:noAutofit/>
            </a:bodyPr>
            <a:lstStyle/>
            <a:p>
              <a:pPr lvl="0">
                <a:defRPr/>
              </a:pP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This data gives the C values of Dow Jones Index (US) for the period 01-01-2017 to 31-10-2023</a:t>
              </a:r>
              <a:endPara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1127760" y="2322459"/>
              <a:ext cx="1846553" cy="420742"/>
            </a:xfrm>
            <a:custGeom>
              <a:avLst/>
              <a:gdLst>
                <a:gd name="connsiteX0" fmla="*/ 0 w 1846553"/>
                <a:gd name="connsiteY0" fmla="*/ 70125 h 420742"/>
                <a:gd name="connsiteX1" fmla="*/ 70125 w 1846553"/>
                <a:gd name="connsiteY1" fmla="*/ 0 h 420742"/>
                <a:gd name="connsiteX2" fmla="*/ 1776428 w 1846553"/>
                <a:gd name="connsiteY2" fmla="*/ 0 h 420742"/>
                <a:gd name="connsiteX3" fmla="*/ 1846553 w 1846553"/>
                <a:gd name="connsiteY3" fmla="*/ 70125 h 420742"/>
                <a:gd name="connsiteX4" fmla="*/ 1846553 w 1846553"/>
                <a:gd name="connsiteY4" fmla="*/ 350617 h 420742"/>
                <a:gd name="connsiteX5" fmla="*/ 1776428 w 1846553"/>
                <a:gd name="connsiteY5" fmla="*/ 420742 h 420742"/>
                <a:gd name="connsiteX6" fmla="*/ 70125 w 1846553"/>
                <a:gd name="connsiteY6" fmla="*/ 420742 h 420742"/>
                <a:gd name="connsiteX7" fmla="*/ 0 w 1846553"/>
                <a:gd name="connsiteY7" fmla="*/ 350617 h 420742"/>
                <a:gd name="connsiteX8" fmla="*/ 0 w 1846553"/>
                <a:gd name="connsiteY8" fmla="*/ 70125 h 42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6553" h="420742">
                  <a:moveTo>
                    <a:pt x="0" y="70125"/>
                  </a:moveTo>
                  <a:cubicBezTo>
                    <a:pt x="0" y="31396"/>
                    <a:pt x="31396" y="0"/>
                    <a:pt x="70125" y="0"/>
                  </a:cubicBezTo>
                  <a:lnTo>
                    <a:pt x="1776428" y="0"/>
                  </a:lnTo>
                  <a:cubicBezTo>
                    <a:pt x="1815157" y="0"/>
                    <a:pt x="1846553" y="31396"/>
                    <a:pt x="1846553" y="70125"/>
                  </a:cubicBezTo>
                  <a:lnTo>
                    <a:pt x="1846553" y="350617"/>
                  </a:lnTo>
                  <a:cubicBezTo>
                    <a:pt x="1846553" y="389346"/>
                    <a:pt x="1815157" y="420742"/>
                    <a:pt x="1776428" y="420742"/>
                  </a:cubicBezTo>
                  <a:lnTo>
                    <a:pt x="70125" y="420742"/>
                  </a:lnTo>
                  <a:cubicBezTo>
                    <a:pt x="31396" y="420742"/>
                    <a:pt x="0" y="389346"/>
                    <a:pt x="0" y="350617"/>
                  </a:cubicBezTo>
                  <a:lnTo>
                    <a:pt x="0" y="7012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4087" tIns="20539" rIns="214087" bIns="20539" numCol="1" spcCol="1270" anchor="ctr" anchorCtr="0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brima"/>
                  <a:ea typeface="+mn-ea"/>
                  <a:cs typeface="Arial"/>
                </a:rPr>
                <a:t>Content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brima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9C3482A-B5A3-494D-A8C6-840448DFA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187901"/>
              </p:ext>
            </p:extLst>
          </p:nvPr>
        </p:nvGraphicFramePr>
        <p:xfrm>
          <a:off x="686151" y="5343273"/>
          <a:ext cx="8153400" cy="1057527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1621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8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93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Columns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Description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Type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Measurement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Possible values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dd-mm-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yyyy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DJI_Close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Close Price of DJI on a particular day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 Values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3545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76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1235"/>
            <a:ext cx="8229600" cy="810805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IN" sz="2900" kern="0" dirty="0">
                <a:solidFill>
                  <a:schemeClr val="accent1"/>
                </a:solidFill>
              </a:rPr>
              <a:t>Data : HSI</a:t>
            </a:r>
            <a:endParaRPr lang="en-US" sz="2900" kern="0" dirty="0">
              <a:solidFill>
                <a:schemeClr val="accent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3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4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5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21212" y="1371601"/>
            <a:ext cx="8517988" cy="1066800"/>
            <a:chOff x="762000" y="2322459"/>
            <a:chExt cx="7315200" cy="1287523"/>
          </a:xfrm>
        </p:grpSpPr>
        <p:sp>
          <p:nvSpPr>
            <p:cNvPr id="6" name="Freeform 5"/>
            <p:cNvSpPr/>
            <p:nvPr/>
          </p:nvSpPr>
          <p:spPr>
            <a:xfrm>
              <a:off x="762000" y="2575679"/>
              <a:ext cx="7315200" cy="1034303"/>
            </a:xfrm>
            <a:custGeom>
              <a:avLst/>
              <a:gdLst>
                <a:gd name="connsiteX0" fmla="*/ 0 w 7315200"/>
                <a:gd name="connsiteY0" fmla="*/ 0 h 750269"/>
                <a:gd name="connsiteX1" fmla="*/ 7315200 w 7315200"/>
                <a:gd name="connsiteY1" fmla="*/ 0 h 750269"/>
                <a:gd name="connsiteX2" fmla="*/ 7315200 w 7315200"/>
                <a:gd name="connsiteY2" fmla="*/ 750269 h 750269"/>
                <a:gd name="connsiteX3" fmla="*/ 0 w 7315200"/>
                <a:gd name="connsiteY3" fmla="*/ 750269 h 750269"/>
                <a:gd name="connsiteX4" fmla="*/ 0 w 7315200"/>
                <a:gd name="connsiteY4" fmla="*/ 0 h 750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5200" h="750269">
                  <a:moveTo>
                    <a:pt x="0" y="0"/>
                  </a:moveTo>
                  <a:lnTo>
                    <a:pt x="7315200" y="0"/>
                  </a:lnTo>
                  <a:lnTo>
                    <a:pt x="7315200" y="750269"/>
                  </a:lnTo>
                  <a:lnTo>
                    <a:pt x="0" y="75026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7741" tIns="249936" rIns="567741" bIns="113792" numCol="1" spcCol="1270" anchor="t" anchorCtr="0">
              <a:noAutofit/>
            </a:bodyPr>
            <a:lstStyle/>
            <a:p>
              <a:pPr lvl="0">
                <a:defRPr/>
              </a:pP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This data gives the OC values of Hang Seng Index (Hongkong) for the period 01-01-2017 to 31-10-2023</a:t>
              </a:r>
              <a:endPara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1127760" y="2322459"/>
              <a:ext cx="1846553" cy="420742"/>
            </a:xfrm>
            <a:custGeom>
              <a:avLst/>
              <a:gdLst>
                <a:gd name="connsiteX0" fmla="*/ 0 w 1846553"/>
                <a:gd name="connsiteY0" fmla="*/ 70125 h 420742"/>
                <a:gd name="connsiteX1" fmla="*/ 70125 w 1846553"/>
                <a:gd name="connsiteY1" fmla="*/ 0 h 420742"/>
                <a:gd name="connsiteX2" fmla="*/ 1776428 w 1846553"/>
                <a:gd name="connsiteY2" fmla="*/ 0 h 420742"/>
                <a:gd name="connsiteX3" fmla="*/ 1846553 w 1846553"/>
                <a:gd name="connsiteY3" fmla="*/ 70125 h 420742"/>
                <a:gd name="connsiteX4" fmla="*/ 1846553 w 1846553"/>
                <a:gd name="connsiteY4" fmla="*/ 350617 h 420742"/>
                <a:gd name="connsiteX5" fmla="*/ 1776428 w 1846553"/>
                <a:gd name="connsiteY5" fmla="*/ 420742 h 420742"/>
                <a:gd name="connsiteX6" fmla="*/ 70125 w 1846553"/>
                <a:gd name="connsiteY6" fmla="*/ 420742 h 420742"/>
                <a:gd name="connsiteX7" fmla="*/ 0 w 1846553"/>
                <a:gd name="connsiteY7" fmla="*/ 350617 h 420742"/>
                <a:gd name="connsiteX8" fmla="*/ 0 w 1846553"/>
                <a:gd name="connsiteY8" fmla="*/ 70125 h 42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6553" h="420742">
                  <a:moveTo>
                    <a:pt x="0" y="70125"/>
                  </a:moveTo>
                  <a:cubicBezTo>
                    <a:pt x="0" y="31396"/>
                    <a:pt x="31396" y="0"/>
                    <a:pt x="70125" y="0"/>
                  </a:cubicBezTo>
                  <a:lnTo>
                    <a:pt x="1776428" y="0"/>
                  </a:lnTo>
                  <a:cubicBezTo>
                    <a:pt x="1815157" y="0"/>
                    <a:pt x="1846553" y="31396"/>
                    <a:pt x="1846553" y="70125"/>
                  </a:cubicBezTo>
                  <a:lnTo>
                    <a:pt x="1846553" y="350617"/>
                  </a:lnTo>
                  <a:cubicBezTo>
                    <a:pt x="1846553" y="389346"/>
                    <a:pt x="1815157" y="420742"/>
                    <a:pt x="1776428" y="420742"/>
                  </a:cubicBezTo>
                  <a:lnTo>
                    <a:pt x="70125" y="420742"/>
                  </a:lnTo>
                  <a:cubicBezTo>
                    <a:pt x="31396" y="420742"/>
                    <a:pt x="0" y="389346"/>
                    <a:pt x="0" y="350617"/>
                  </a:cubicBezTo>
                  <a:lnTo>
                    <a:pt x="0" y="7012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4087" tIns="20539" rIns="214087" bIns="20539" numCol="1" spcCol="1270" anchor="ctr" anchorCtr="0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brima"/>
                  <a:ea typeface="+mn-ea"/>
                  <a:cs typeface="Arial"/>
                </a:rPr>
                <a:t>Content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brima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9B32455-B72C-4740-B817-C7E4A57163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831069"/>
              </p:ext>
            </p:extLst>
          </p:nvPr>
        </p:nvGraphicFramePr>
        <p:xfrm>
          <a:off x="2897280" y="2552700"/>
          <a:ext cx="3274920" cy="3738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Worksheet" r:id="rId8" imgW="2362129" imgH="2933810" progId="Excel.Sheet.12">
                  <p:embed/>
                </p:oleObj>
              </mc:Choice>
              <mc:Fallback>
                <p:oleObj name="Worksheet" r:id="rId8" imgW="2362129" imgH="293381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97280" y="2552700"/>
                        <a:ext cx="3274920" cy="3738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9C3482A-B5A3-494D-A8C6-840448DFA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939316"/>
              </p:ext>
            </p:extLst>
          </p:nvPr>
        </p:nvGraphicFramePr>
        <p:xfrm>
          <a:off x="686151" y="4953000"/>
          <a:ext cx="8153400" cy="1432812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1621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8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93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Columns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Description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Type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Measurement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Possible values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dd-mm-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yyyy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HSI_Open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Opening Price of HSI on a particular day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 Values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HSI_Close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Close Price of HSI on a particular day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 Values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3545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0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1235"/>
            <a:ext cx="8229600" cy="810805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IN" sz="2900" kern="0" dirty="0">
                <a:solidFill>
                  <a:schemeClr val="accent1"/>
                </a:solidFill>
              </a:rPr>
              <a:t>Data : GDAXI</a:t>
            </a:r>
            <a:endParaRPr lang="en-US" sz="2900" kern="0" dirty="0">
              <a:solidFill>
                <a:schemeClr val="accent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3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4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5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21212" y="1371601"/>
            <a:ext cx="8594188" cy="1066800"/>
            <a:chOff x="762000" y="2322459"/>
            <a:chExt cx="7315200" cy="1287523"/>
          </a:xfrm>
        </p:grpSpPr>
        <p:sp>
          <p:nvSpPr>
            <p:cNvPr id="6" name="Freeform 5"/>
            <p:cNvSpPr/>
            <p:nvPr/>
          </p:nvSpPr>
          <p:spPr>
            <a:xfrm>
              <a:off x="762000" y="2575679"/>
              <a:ext cx="7315200" cy="1034303"/>
            </a:xfrm>
            <a:custGeom>
              <a:avLst/>
              <a:gdLst>
                <a:gd name="connsiteX0" fmla="*/ 0 w 7315200"/>
                <a:gd name="connsiteY0" fmla="*/ 0 h 750269"/>
                <a:gd name="connsiteX1" fmla="*/ 7315200 w 7315200"/>
                <a:gd name="connsiteY1" fmla="*/ 0 h 750269"/>
                <a:gd name="connsiteX2" fmla="*/ 7315200 w 7315200"/>
                <a:gd name="connsiteY2" fmla="*/ 750269 h 750269"/>
                <a:gd name="connsiteX3" fmla="*/ 0 w 7315200"/>
                <a:gd name="connsiteY3" fmla="*/ 750269 h 750269"/>
                <a:gd name="connsiteX4" fmla="*/ 0 w 7315200"/>
                <a:gd name="connsiteY4" fmla="*/ 0 h 750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5200" h="750269">
                  <a:moveTo>
                    <a:pt x="0" y="0"/>
                  </a:moveTo>
                  <a:lnTo>
                    <a:pt x="7315200" y="0"/>
                  </a:lnTo>
                  <a:lnTo>
                    <a:pt x="7315200" y="750269"/>
                  </a:lnTo>
                  <a:lnTo>
                    <a:pt x="0" y="75026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7741" tIns="249936" rIns="567741" bIns="113792" numCol="1" spcCol="1270" anchor="t" anchorCtr="0">
              <a:noAutofit/>
            </a:bodyPr>
            <a:lstStyle/>
            <a:p>
              <a:pPr lvl="0">
                <a:defRPr/>
              </a:pP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This data gives the C values of DAX Index (Germany) for the period 01-01-2017 to 31-10-2023</a:t>
              </a:r>
              <a:endPara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1127760" y="2322459"/>
              <a:ext cx="1846553" cy="420742"/>
            </a:xfrm>
            <a:custGeom>
              <a:avLst/>
              <a:gdLst>
                <a:gd name="connsiteX0" fmla="*/ 0 w 1846553"/>
                <a:gd name="connsiteY0" fmla="*/ 70125 h 420742"/>
                <a:gd name="connsiteX1" fmla="*/ 70125 w 1846553"/>
                <a:gd name="connsiteY1" fmla="*/ 0 h 420742"/>
                <a:gd name="connsiteX2" fmla="*/ 1776428 w 1846553"/>
                <a:gd name="connsiteY2" fmla="*/ 0 h 420742"/>
                <a:gd name="connsiteX3" fmla="*/ 1846553 w 1846553"/>
                <a:gd name="connsiteY3" fmla="*/ 70125 h 420742"/>
                <a:gd name="connsiteX4" fmla="*/ 1846553 w 1846553"/>
                <a:gd name="connsiteY4" fmla="*/ 350617 h 420742"/>
                <a:gd name="connsiteX5" fmla="*/ 1776428 w 1846553"/>
                <a:gd name="connsiteY5" fmla="*/ 420742 h 420742"/>
                <a:gd name="connsiteX6" fmla="*/ 70125 w 1846553"/>
                <a:gd name="connsiteY6" fmla="*/ 420742 h 420742"/>
                <a:gd name="connsiteX7" fmla="*/ 0 w 1846553"/>
                <a:gd name="connsiteY7" fmla="*/ 350617 h 420742"/>
                <a:gd name="connsiteX8" fmla="*/ 0 w 1846553"/>
                <a:gd name="connsiteY8" fmla="*/ 70125 h 42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6553" h="420742">
                  <a:moveTo>
                    <a:pt x="0" y="70125"/>
                  </a:moveTo>
                  <a:cubicBezTo>
                    <a:pt x="0" y="31396"/>
                    <a:pt x="31396" y="0"/>
                    <a:pt x="70125" y="0"/>
                  </a:cubicBezTo>
                  <a:lnTo>
                    <a:pt x="1776428" y="0"/>
                  </a:lnTo>
                  <a:cubicBezTo>
                    <a:pt x="1815157" y="0"/>
                    <a:pt x="1846553" y="31396"/>
                    <a:pt x="1846553" y="70125"/>
                  </a:cubicBezTo>
                  <a:lnTo>
                    <a:pt x="1846553" y="350617"/>
                  </a:lnTo>
                  <a:cubicBezTo>
                    <a:pt x="1846553" y="389346"/>
                    <a:pt x="1815157" y="420742"/>
                    <a:pt x="1776428" y="420742"/>
                  </a:cubicBezTo>
                  <a:lnTo>
                    <a:pt x="70125" y="420742"/>
                  </a:lnTo>
                  <a:cubicBezTo>
                    <a:pt x="31396" y="420742"/>
                    <a:pt x="0" y="389346"/>
                    <a:pt x="0" y="350617"/>
                  </a:cubicBezTo>
                  <a:lnTo>
                    <a:pt x="0" y="7012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4087" tIns="20539" rIns="214087" bIns="20539" numCol="1" spcCol="1270" anchor="ctr" anchorCtr="0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brima"/>
                  <a:ea typeface="+mn-ea"/>
                  <a:cs typeface="Arial"/>
                </a:rPr>
                <a:t>Content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brima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754B6F8-8446-4070-B930-05D5A07F4E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397234"/>
              </p:ext>
            </p:extLst>
          </p:nvPr>
        </p:nvGraphicFramePr>
        <p:xfrm>
          <a:off x="3048000" y="2628899"/>
          <a:ext cx="1997075" cy="380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name="Worksheet" r:id="rId8" imgW="1539169" imgH="2933810" progId="Excel.Sheet.12">
                  <p:embed/>
                </p:oleObj>
              </mc:Choice>
              <mc:Fallback>
                <p:oleObj name="Worksheet" r:id="rId8" imgW="1539169" imgH="293381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48000" y="2628899"/>
                        <a:ext cx="1997075" cy="3804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9C3482A-B5A3-494D-A8C6-840448DFA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25379"/>
              </p:ext>
            </p:extLst>
          </p:nvPr>
        </p:nvGraphicFramePr>
        <p:xfrm>
          <a:off x="686151" y="5343273"/>
          <a:ext cx="8153400" cy="1057527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1621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8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93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Columns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Description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Type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Measurement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Possible values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dd-mm-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yyyy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DAX_Close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Close Price of DAX Index on a particular day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 Values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3545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77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B8B0C54-EA26-4776-AC5A-C0530184DFC4}"/>
              </a:ext>
            </a:extLst>
          </p:cNvPr>
          <p:cNvCxnSpPr/>
          <p:nvPr/>
        </p:nvCxnSpPr>
        <p:spPr>
          <a:xfrm>
            <a:off x="7753271" y="2474452"/>
            <a:ext cx="0" cy="5603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Shape 127">
            <a:extLst>
              <a:ext uri="{FF2B5EF4-FFF2-40B4-BE49-F238E27FC236}">
                <a16:creationId xmlns:a16="http://schemas.microsoft.com/office/drawing/2014/main" id="{D15B3FB7-0BEB-4A88-AFED-5EB0D94A3824}"/>
              </a:ext>
            </a:extLst>
          </p:cNvPr>
          <p:cNvGrpSpPr/>
          <p:nvPr/>
        </p:nvGrpSpPr>
        <p:grpSpPr>
          <a:xfrm>
            <a:off x="7617688" y="2811231"/>
            <a:ext cx="263054" cy="717717"/>
            <a:chOff x="2223534" y="2938958"/>
            <a:chExt cx="198900" cy="593656"/>
          </a:xfrm>
        </p:grpSpPr>
        <p:cxnSp>
          <p:nvCxnSpPr>
            <p:cNvPr id="121" name="Shape 128">
              <a:extLst>
                <a:ext uri="{FF2B5EF4-FFF2-40B4-BE49-F238E27FC236}">
                  <a16:creationId xmlns:a16="http://schemas.microsoft.com/office/drawing/2014/main" id="{4545E432-2495-40B9-8CD6-5A5A92CC0059}"/>
                </a:ext>
              </a:extLst>
            </p:cNvPr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" name="Shape 129">
              <a:extLst>
                <a:ext uri="{FF2B5EF4-FFF2-40B4-BE49-F238E27FC236}">
                  <a16:creationId xmlns:a16="http://schemas.microsoft.com/office/drawing/2014/main" id="{AD3C7CC9-8CE1-4703-9D18-6D18F866996B}"/>
                </a:ext>
              </a:extLst>
            </p:cNvPr>
            <p:cNvSpPr/>
            <p:nvPr/>
          </p:nvSpPr>
          <p:spPr>
            <a:xfrm rot="10800000" flipH="1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35D13-2E3D-470E-9959-F05290997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4A8CC3-D89B-47C7-8B8C-CCA7257E0B17}"/>
              </a:ext>
            </a:extLst>
          </p:cNvPr>
          <p:cNvGrpSpPr/>
          <p:nvPr/>
        </p:nvGrpSpPr>
        <p:grpSpPr>
          <a:xfrm>
            <a:off x="650549" y="1582924"/>
            <a:ext cx="1007581" cy="1124666"/>
            <a:chOff x="1220432" y="1752600"/>
            <a:chExt cx="2660373" cy="290761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469ED0-CE12-40A2-A572-98B1E2D14A16}"/>
                </a:ext>
              </a:extLst>
            </p:cNvPr>
            <p:cNvSpPr/>
            <p:nvPr/>
          </p:nvSpPr>
          <p:spPr>
            <a:xfrm rot="5400000">
              <a:off x="1569459" y="2278180"/>
              <a:ext cx="2755409" cy="1856458"/>
            </a:xfrm>
            <a:custGeom>
              <a:avLst/>
              <a:gdLst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264094 w 3472683"/>
                <a:gd name="connsiteY3" fmla="*/ 195265 h 2339721"/>
                <a:gd name="connsiteX4" fmla="*/ 1735506 w 3472683"/>
                <a:gd name="connsiteY4" fmla="*/ 0 h 2339721"/>
                <a:gd name="connsiteX5" fmla="*/ 1737177 w 3472683"/>
                <a:gd name="connsiteY5" fmla="*/ 1 h 2339721"/>
                <a:gd name="connsiteX6" fmla="*/ 2208589 w 3472683"/>
                <a:gd name="connsiteY6" fmla="*/ 195266 h 2339721"/>
                <a:gd name="connsiteX7" fmla="*/ 2276970 w 3472683"/>
                <a:gd name="connsiteY7" fmla="*/ 278145 h 2339721"/>
                <a:gd name="connsiteX8" fmla="*/ 3472668 w 3472683"/>
                <a:gd name="connsiteY8" fmla="*/ 2339693 h 2339721"/>
                <a:gd name="connsiteX9" fmla="*/ 3472683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1737177 w 3472683"/>
                <a:gd name="connsiteY4" fmla="*/ 1 h 2339721"/>
                <a:gd name="connsiteX5" fmla="*/ 2208589 w 3472683"/>
                <a:gd name="connsiteY5" fmla="*/ 195266 h 2339721"/>
                <a:gd name="connsiteX6" fmla="*/ 2276970 w 3472683"/>
                <a:gd name="connsiteY6" fmla="*/ 278145 h 2339721"/>
                <a:gd name="connsiteX7" fmla="*/ 3472668 w 3472683"/>
                <a:gd name="connsiteY7" fmla="*/ 2339693 h 2339721"/>
                <a:gd name="connsiteX8" fmla="*/ 3472683 w 3472683"/>
                <a:gd name="connsiteY8" fmla="*/ 2339721 h 2339721"/>
                <a:gd name="connsiteX9" fmla="*/ 0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08589 w 3472683"/>
                <a:gd name="connsiteY4" fmla="*/ 195266 h 2339721"/>
                <a:gd name="connsiteX5" fmla="*/ 2276970 w 3472683"/>
                <a:gd name="connsiteY5" fmla="*/ 278145 h 2339721"/>
                <a:gd name="connsiteX6" fmla="*/ 3472668 w 3472683"/>
                <a:gd name="connsiteY6" fmla="*/ 2339693 h 2339721"/>
                <a:gd name="connsiteX7" fmla="*/ 3472683 w 3472683"/>
                <a:gd name="connsiteY7" fmla="*/ 2339721 h 2339721"/>
                <a:gd name="connsiteX8" fmla="*/ 0 w 3472683"/>
                <a:gd name="connsiteY8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76970 w 3472683"/>
                <a:gd name="connsiteY4" fmla="*/ 278145 h 2339721"/>
                <a:gd name="connsiteX5" fmla="*/ 3472668 w 3472683"/>
                <a:gd name="connsiteY5" fmla="*/ 2339693 h 2339721"/>
                <a:gd name="connsiteX6" fmla="*/ 3472683 w 3472683"/>
                <a:gd name="connsiteY6" fmla="*/ 2339721 h 2339721"/>
                <a:gd name="connsiteX7" fmla="*/ 0 w 3472683"/>
                <a:gd name="connsiteY7" fmla="*/ 2339721 h 2339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72683" h="2339721">
                  <a:moveTo>
                    <a:pt x="0" y="2339721"/>
                  </a:moveTo>
                  <a:cubicBezTo>
                    <a:pt x="10" y="2339702"/>
                    <a:pt x="21" y="2339683"/>
                    <a:pt x="31" y="2339664"/>
                  </a:cubicBezTo>
                  <a:lnTo>
                    <a:pt x="1195714" y="278142"/>
                  </a:lnTo>
                  <a:lnTo>
                    <a:pt x="1735506" y="0"/>
                  </a:lnTo>
                  <a:lnTo>
                    <a:pt x="2276970" y="278145"/>
                  </a:lnTo>
                  <a:lnTo>
                    <a:pt x="3472668" y="2339693"/>
                  </a:lnTo>
                  <a:cubicBezTo>
                    <a:pt x="3472673" y="2339702"/>
                    <a:pt x="3472678" y="2339712"/>
                    <a:pt x="3472683" y="2339721"/>
                  </a:cubicBezTo>
                  <a:lnTo>
                    <a:pt x="0" y="233972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CF712C7-B63B-46C6-A471-8B26582225AD}"/>
                </a:ext>
              </a:extLst>
            </p:cNvPr>
            <p:cNvSpPr/>
            <p:nvPr/>
          </p:nvSpPr>
          <p:spPr>
            <a:xfrm>
              <a:off x="1220432" y="1752600"/>
              <a:ext cx="1057952" cy="290761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CCEA769-4BAE-46B2-A577-740C27A77D9B}"/>
                </a:ext>
              </a:extLst>
            </p:cNvPr>
            <p:cNvSpPr/>
            <p:nvPr/>
          </p:nvSpPr>
          <p:spPr>
            <a:xfrm>
              <a:off x="1960682" y="2259230"/>
              <a:ext cx="317702" cy="1894354"/>
            </a:xfrm>
            <a:custGeom>
              <a:avLst/>
              <a:gdLst>
                <a:gd name="connsiteX0" fmla="*/ 315449 w 317702"/>
                <a:gd name="connsiteY0" fmla="*/ 0 h 1894354"/>
                <a:gd name="connsiteX1" fmla="*/ 317702 w 317702"/>
                <a:gd name="connsiteY1" fmla="*/ 22346 h 1894354"/>
                <a:gd name="connsiteX2" fmla="*/ 317702 w 317702"/>
                <a:gd name="connsiteY2" fmla="*/ 1872008 h 1894354"/>
                <a:gd name="connsiteX3" fmla="*/ 315450 w 317702"/>
                <a:gd name="connsiteY3" fmla="*/ 1894354 h 1894354"/>
                <a:gd name="connsiteX4" fmla="*/ 233221 w 317702"/>
                <a:gd name="connsiteY4" fmla="*/ 1849721 h 1894354"/>
                <a:gd name="connsiteX5" fmla="*/ 0 w 317702"/>
                <a:gd name="connsiteY5" fmla="*/ 1411086 h 1894354"/>
                <a:gd name="connsiteX6" fmla="*/ 0 w 317702"/>
                <a:gd name="connsiteY6" fmla="*/ 483267 h 1894354"/>
                <a:gd name="connsiteX7" fmla="*/ 233221 w 317702"/>
                <a:gd name="connsiteY7" fmla="*/ 44632 h 189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2" h="1894354">
                  <a:moveTo>
                    <a:pt x="315449" y="0"/>
                  </a:moveTo>
                  <a:lnTo>
                    <a:pt x="317702" y="22346"/>
                  </a:lnTo>
                  <a:lnTo>
                    <a:pt x="317702" y="1872008"/>
                  </a:lnTo>
                  <a:lnTo>
                    <a:pt x="315450" y="1894354"/>
                  </a:lnTo>
                  <a:lnTo>
                    <a:pt x="233221" y="1849721"/>
                  </a:lnTo>
                  <a:cubicBezTo>
                    <a:pt x="92512" y="1754660"/>
                    <a:pt x="0" y="1593677"/>
                    <a:pt x="0" y="1411086"/>
                  </a:cubicBezTo>
                  <a:lnTo>
                    <a:pt x="0" y="483267"/>
                  </a:lnTo>
                  <a:cubicBezTo>
                    <a:pt x="0" y="300677"/>
                    <a:pt x="92512" y="139693"/>
                    <a:pt x="233221" y="4463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B604D07-9ECC-48CD-A1A4-0FF4A4F56DE5}"/>
                </a:ext>
              </a:extLst>
            </p:cNvPr>
            <p:cNvSpPr/>
            <p:nvPr/>
          </p:nvSpPr>
          <p:spPr>
            <a:xfrm>
              <a:off x="1963105" y="2210059"/>
              <a:ext cx="1057952" cy="1985771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9E741C3-0A15-45F0-BBBF-E1D31E402EDE}"/>
                </a:ext>
              </a:extLst>
            </p:cNvPr>
            <p:cNvSpPr/>
            <p:nvPr/>
          </p:nvSpPr>
          <p:spPr>
            <a:xfrm>
              <a:off x="2761894" y="2722358"/>
              <a:ext cx="317701" cy="968101"/>
            </a:xfrm>
            <a:custGeom>
              <a:avLst/>
              <a:gdLst>
                <a:gd name="connsiteX0" fmla="*/ 315671 w 317701"/>
                <a:gd name="connsiteY0" fmla="*/ 0 h 968101"/>
                <a:gd name="connsiteX1" fmla="*/ 317701 w 317701"/>
                <a:gd name="connsiteY1" fmla="*/ 20140 h 968101"/>
                <a:gd name="connsiteX2" fmla="*/ 317701 w 317701"/>
                <a:gd name="connsiteY2" fmla="*/ 947959 h 968101"/>
                <a:gd name="connsiteX3" fmla="*/ 315671 w 317701"/>
                <a:gd name="connsiteY3" fmla="*/ 968101 h 968101"/>
                <a:gd name="connsiteX4" fmla="*/ 233221 w 317701"/>
                <a:gd name="connsiteY4" fmla="*/ 923348 h 968101"/>
                <a:gd name="connsiteX5" fmla="*/ 0 w 317701"/>
                <a:gd name="connsiteY5" fmla="*/ 484713 h 968101"/>
                <a:gd name="connsiteX6" fmla="*/ 0 w 317701"/>
                <a:gd name="connsiteY6" fmla="*/ 483387 h 968101"/>
                <a:gd name="connsiteX7" fmla="*/ 233221 w 317701"/>
                <a:gd name="connsiteY7" fmla="*/ 44752 h 96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1" h="968101">
                  <a:moveTo>
                    <a:pt x="315671" y="0"/>
                  </a:moveTo>
                  <a:lnTo>
                    <a:pt x="317701" y="20140"/>
                  </a:lnTo>
                  <a:lnTo>
                    <a:pt x="317701" y="947959"/>
                  </a:lnTo>
                  <a:lnTo>
                    <a:pt x="315671" y="968101"/>
                  </a:lnTo>
                  <a:lnTo>
                    <a:pt x="233221" y="923348"/>
                  </a:lnTo>
                  <a:cubicBezTo>
                    <a:pt x="92512" y="828287"/>
                    <a:pt x="0" y="667304"/>
                    <a:pt x="0" y="484713"/>
                  </a:cubicBezTo>
                  <a:lnTo>
                    <a:pt x="0" y="483387"/>
                  </a:lnTo>
                  <a:cubicBezTo>
                    <a:pt x="0" y="300797"/>
                    <a:pt x="92512" y="139813"/>
                    <a:pt x="233221" y="4475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FBA57EA-B745-4A1B-BB2F-1E7A4D4A12A8}"/>
                </a:ext>
              </a:extLst>
            </p:cNvPr>
            <p:cNvSpPr/>
            <p:nvPr/>
          </p:nvSpPr>
          <p:spPr>
            <a:xfrm>
              <a:off x="2822853" y="2676768"/>
              <a:ext cx="1057952" cy="105927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6" name="Graphic 25" descr="Research">
            <a:extLst>
              <a:ext uri="{FF2B5EF4-FFF2-40B4-BE49-F238E27FC236}">
                <a16:creationId xmlns:a16="http://schemas.microsoft.com/office/drawing/2014/main" id="{8CCCB306-E767-4CDF-BDB5-CF102E903E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91346" y="1922948"/>
            <a:ext cx="374462" cy="37446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23049DA-BEA9-4E08-BF16-2409CFB35ACE}"/>
              </a:ext>
            </a:extLst>
          </p:cNvPr>
          <p:cNvSpPr txBox="1"/>
          <p:nvPr/>
        </p:nvSpPr>
        <p:spPr>
          <a:xfrm>
            <a:off x="231312" y="1200158"/>
            <a:ext cx="274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entury Gothic" panose="020B0502020202020204" pitchFamily="34" charset="0"/>
              </a:rPr>
              <a:t>Data management</a:t>
            </a:r>
          </a:p>
        </p:txBody>
      </p:sp>
      <p:grpSp>
        <p:nvGrpSpPr>
          <p:cNvPr id="32" name="Shape 127">
            <a:extLst>
              <a:ext uri="{FF2B5EF4-FFF2-40B4-BE49-F238E27FC236}">
                <a16:creationId xmlns:a16="http://schemas.microsoft.com/office/drawing/2014/main" id="{2ED2BEB3-D4FF-4FF9-94A7-1402CB6BFAFE}"/>
              </a:ext>
            </a:extLst>
          </p:cNvPr>
          <p:cNvGrpSpPr/>
          <p:nvPr/>
        </p:nvGrpSpPr>
        <p:grpSpPr>
          <a:xfrm>
            <a:off x="741024" y="2705025"/>
            <a:ext cx="263054" cy="717717"/>
            <a:chOff x="2223534" y="2938958"/>
            <a:chExt cx="198900" cy="593656"/>
          </a:xfrm>
        </p:grpSpPr>
        <p:cxnSp>
          <p:nvCxnSpPr>
            <p:cNvPr id="33" name="Shape 128">
              <a:extLst>
                <a:ext uri="{FF2B5EF4-FFF2-40B4-BE49-F238E27FC236}">
                  <a16:creationId xmlns:a16="http://schemas.microsoft.com/office/drawing/2014/main" id="{1FD97857-B6C0-4BD6-BF9A-1060B8171456}"/>
                </a:ext>
              </a:extLst>
            </p:cNvPr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" name="Shape 129">
              <a:extLst>
                <a:ext uri="{FF2B5EF4-FFF2-40B4-BE49-F238E27FC236}">
                  <a16:creationId xmlns:a16="http://schemas.microsoft.com/office/drawing/2014/main" id="{837D5DCC-24F4-4601-A5C1-3E69957AE8DB}"/>
                </a:ext>
              </a:extLst>
            </p:cNvPr>
            <p:cNvSpPr/>
            <p:nvPr/>
          </p:nvSpPr>
          <p:spPr>
            <a:xfrm rot="10800000" flipH="1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35" name="Shape 130">
            <a:extLst>
              <a:ext uri="{FF2B5EF4-FFF2-40B4-BE49-F238E27FC236}">
                <a16:creationId xmlns:a16="http://schemas.microsoft.com/office/drawing/2014/main" id="{1F15962D-F4DB-4B5E-A4FB-816420DA27CC}"/>
              </a:ext>
            </a:extLst>
          </p:cNvPr>
          <p:cNvSpPr txBox="1">
            <a:spLocks/>
          </p:cNvSpPr>
          <p:nvPr/>
        </p:nvSpPr>
        <p:spPr>
          <a:xfrm>
            <a:off x="49161" y="3781601"/>
            <a:ext cx="1804004" cy="2020846"/>
          </a:xfrm>
          <a:prstGeom prst="rect">
            <a:avLst/>
          </a:prstGeom>
        </p:spPr>
        <p:txBody>
          <a:bodyPr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Download data and derive daily returns for each market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900" dirty="0">
              <a:latin typeface="Century Gothic" panose="020B0502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Compile all data files based on Date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endParaRPr lang="en-IN" sz="900" dirty="0">
              <a:latin typeface="Century Gothic" panose="020B0502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Handling missing values and completing Basic Data checks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900" dirty="0">
              <a:latin typeface="Century Gothic" panose="020B0502020202020204" pitchFamily="34" charset="0"/>
            </a:endParaRPr>
          </a:p>
          <a:p>
            <a:pPr lvl="0"/>
            <a:endParaRPr lang="en-IN" sz="900" dirty="0">
              <a:latin typeface="Century Gothic" panose="020B0502020202020204" pitchFamily="34" charset="0"/>
            </a:endParaRPr>
          </a:p>
        </p:txBody>
      </p:sp>
      <p:grpSp>
        <p:nvGrpSpPr>
          <p:cNvPr id="37" name="Shape 127">
            <a:extLst>
              <a:ext uri="{FF2B5EF4-FFF2-40B4-BE49-F238E27FC236}">
                <a16:creationId xmlns:a16="http://schemas.microsoft.com/office/drawing/2014/main" id="{B009AB42-0F93-4083-A70D-B6252FBE2794}"/>
              </a:ext>
            </a:extLst>
          </p:cNvPr>
          <p:cNvGrpSpPr/>
          <p:nvPr/>
        </p:nvGrpSpPr>
        <p:grpSpPr>
          <a:xfrm>
            <a:off x="3168078" y="2891957"/>
            <a:ext cx="263054" cy="717717"/>
            <a:chOff x="2223534" y="2938958"/>
            <a:chExt cx="198900" cy="593656"/>
          </a:xfrm>
        </p:grpSpPr>
        <p:cxnSp>
          <p:nvCxnSpPr>
            <p:cNvPr id="38" name="Shape 128">
              <a:extLst>
                <a:ext uri="{FF2B5EF4-FFF2-40B4-BE49-F238E27FC236}">
                  <a16:creationId xmlns:a16="http://schemas.microsoft.com/office/drawing/2014/main" id="{8B62CAF2-A1D5-4847-91B6-3A7B27FD22CE}"/>
                </a:ext>
              </a:extLst>
            </p:cNvPr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" name="Shape 129">
              <a:extLst>
                <a:ext uri="{FF2B5EF4-FFF2-40B4-BE49-F238E27FC236}">
                  <a16:creationId xmlns:a16="http://schemas.microsoft.com/office/drawing/2014/main" id="{BA58017F-FFFD-4D1A-B4F6-6DCE80566A19}"/>
                </a:ext>
              </a:extLst>
            </p:cNvPr>
            <p:cNvSpPr/>
            <p:nvPr/>
          </p:nvSpPr>
          <p:spPr>
            <a:xfrm rot="10800000" flipH="1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E519C1D-4CAA-41A4-AE3B-141F5A06B23F}"/>
              </a:ext>
            </a:extLst>
          </p:cNvPr>
          <p:cNvCxnSpPr>
            <a:cxnSpLocks/>
          </p:cNvCxnSpPr>
          <p:nvPr/>
        </p:nvCxnSpPr>
        <p:spPr>
          <a:xfrm>
            <a:off x="3299605" y="2655404"/>
            <a:ext cx="0" cy="3931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D7E1E2F-8E19-4331-A81B-763B274C8FD8}"/>
              </a:ext>
            </a:extLst>
          </p:cNvPr>
          <p:cNvGrpSpPr/>
          <p:nvPr/>
        </p:nvGrpSpPr>
        <p:grpSpPr>
          <a:xfrm>
            <a:off x="1991225" y="1115831"/>
            <a:ext cx="5161551" cy="52403"/>
            <a:chOff x="1991225" y="1155160"/>
            <a:chExt cx="5161551" cy="5240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6548D71-41BC-45EE-B3E2-1D038482930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9917803-55CA-4A22-A571-BDA7D9316CF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F9669BC-B49B-466A-A669-E0BDBC85B78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</p:grpSp>
      <p:sp>
        <p:nvSpPr>
          <p:cNvPr id="49" name="Rectangle 2">
            <a:extLst>
              <a:ext uri="{FF2B5EF4-FFF2-40B4-BE49-F238E27FC236}">
                <a16:creationId xmlns:a16="http://schemas.microsoft.com/office/drawing/2014/main" id="{08127BF4-33AF-4063-96EA-D9F57F936B1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246786"/>
            <a:ext cx="8229600" cy="8108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</a:pPr>
            <a:r>
              <a:rPr lang="en-IN" sz="3000" kern="0" dirty="0">
                <a:solidFill>
                  <a:schemeClr val="accent1"/>
                </a:solidFill>
              </a:rPr>
              <a:t>Next steps</a:t>
            </a:r>
            <a:endParaRPr lang="en-US" sz="3000" kern="0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980CB5-B1DC-4168-84D7-E37487F2335D}"/>
              </a:ext>
            </a:extLst>
          </p:cNvPr>
          <p:cNvSpPr txBox="1"/>
          <p:nvPr/>
        </p:nvSpPr>
        <p:spPr>
          <a:xfrm>
            <a:off x="2720099" y="1132340"/>
            <a:ext cx="2741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entury Gothic" panose="020B0502020202020204" pitchFamily="34" charset="0"/>
              </a:rPr>
              <a:t>Descriptive Statistics </a:t>
            </a:r>
          </a:p>
          <a:p>
            <a:r>
              <a:rPr lang="en-IN" sz="1200" dirty="0">
                <a:latin typeface="Century Gothic" panose="020B0502020202020204" pitchFamily="34" charset="0"/>
              </a:rPr>
              <a:t>&amp; Data visualization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2E26329-20C4-4C11-B22B-C0D7BEB34471}"/>
              </a:ext>
            </a:extLst>
          </p:cNvPr>
          <p:cNvGrpSpPr/>
          <p:nvPr/>
        </p:nvGrpSpPr>
        <p:grpSpPr>
          <a:xfrm>
            <a:off x="3085553" y="1547846"/>
            <a:ext cx="1007581" cy="1124666"/>
            <a:chOff x="1220432" y="1752600"/>
            <a:chExt cx="2660373" cy="2907614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A2FBF6F-FBCF-4E20-9B40-1D320D8C9290}"/>
                </a:ext>
              </a:extLst>
            </p:cNvPr>
            <p:cNvSpPr/>
            <p:nvPr/>
          </p:nvSpPr>
          <p:spPr>
            <a:xfrm rot="5400000">
              <a:off x="1569459" y="2278180"/>
              <a:ext cx="2755409" cy="1856458"/>
            </a:xfrm>
            <a:custGeom>
              <a:avLst/>
              <a:gdLst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264094 w 3472683"/>
                <a:gd name="connsiteY3" fmla="*/ 195265 h 2339721"/>
                <a:gd name="connsiteX4" fmla="*/ 1735506 w 3472683"/>
                <a:gd name="connsiteY4" fmla="*/ 0 h 2339721"/>
                <a:gd name="connsiteX5" fmla="*/ 1737177 w 3472683"/>
                <a:gd name="connsiteY5" fmla="*/ 1 h 2339721"/>
                <a:gd name="connsiteX6" fmla="*/ 2208589 w 3472683"/>
                <a:gd name="connsiteY6" fmla="*/ 195266 h 2339721"/>
                <a:gd name="connsiteX7" fmla="*/ 2276970 w 3472683"/>
                <a:gd name="connsiteY7" fmla="*/ 278145 h 2339721"/>
                <a:gd name="connsiteX8" fmla="*/ 3472668 w 3472683"/>
                <a:gd name="connsiteY8" fmla="*/ 2339693 h 2339721"/>
                <a:gd name="connsiteX9" fmla="*/ 3472683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1737177 w 3472683"/>
                <a:gd name="connsiteY4" fmla="*/ 1 h 2339721"/>
                <a:gd name="connsiteX5" fmla="*/ 2208589 w 3472683"/>
                <a:gd name="connsiteY5" fmla="*/ 195266 h 2339721"/>
                <a:gd name="connsiteX6" fmla="*/ 2276970 w 3472683"/>
                <a:gd name="connsiteY6" fmla="*/ 278145 h 2339721"/>
                <a:gd name="connsiteX7" fmla="*/ 3472668 w 3472683"/>
                <a:gd name="connsiteY7" fmla="*/ 2339693 h 2339721"/>
                <a:gd name="connsiteX8" fmla="*/ 3472683 w 3472683"/>
                <a:gd name="connsiteY8" fmla="*/ 2339721 h 2339721"/>
                <a:gd name="connsiteX9" fmla="*/ 0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08589 w 3472683"/>
                <a:gd name="connsiteY4" fmla="*/ 195266 h 2339721"/>
                <a:gd name="connsiteX5" fmla="*/ 2276970 w 3472683"/>
                <a:gd name="connsiteY5" fmla="*/ 278145 h 2339721"/>
                <a:gd name="connsiteX6" fmla="*/ 3472668 w 3472683"/>
                <a:gd name="connsiteY6" fmla="*/ 2339693 h 2339721"/>
                <a:gd name="connsiteX7" fmla="*/ 3472683 w 3472683"/>
                <a:gd name="connsiteY7" fmla="*/ 2339721 h 2339721"/>
                <a:gd name="connsiteX8" fmla="*/ 0 w 3472683"/>
                <a:gd name="connsiteY8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76970 w 3472683"/>
                <a:gd name="connsiteY4" fmla="*/ 278145 h 2339721"/>
                <a:gd name="connsiteX5" fmla="*/ 3472668 w 3472683"/>
                <a:gd name="connsiteY5" fmla="*/ 2339693 h 2339721"/>
                <a:gd name="connsiteX6" fmla="*/ 3472683 w 3472683"/>
                <a:gd name="connsiteY6" fmla="*/ 2339721 h 2339721"/>
                <a:gd name="connsiteX7" fmla="*/ 0 w 3472683"/>
                <a:gd name="connsiteY7" fmla="*/ 2339721 h 2339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72683" h="2339721">
                  <a:moveTo>
                    <a:pt x="0" y="2339721"/>
                  </a:moveTo>
                  <a:cubicBezTo>
                    <a:pt x="10" y="2339702"/>
                    <a:pt x="21" y="2339683"/>
                    <a:pt x="31" y="2339664"/>
                  </a:cubicBezTo>
                  <a:lnTo>
                    <a:pt x="1195714" y="278142"/>
                  </a:lnTo>
                  <a:lnTo>
                    <a:pt x="1735506" y="0"/>
                  </a:lnTo>
                  <a:lnTo>
                    <a:pt x="2276970" y="278145"/>
                  </a:lnTo>
                  <a:lnTo>
                    <a:pt x="3472668" y="2339693"/>
                  </a:lnTo>
                  <a:cubicBezTo>
                    <a:pt x="3472673" y="2339702"/>
                    <a:pt x="3472678" y="2339712"/>
                    <a:pt x="3472683" y="2339721"/>
                  </a:cubicBezTo>
                  <a:lnTo>
                    <a:pt x="0" y="233972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E1C26B66-9256-4DF8-BE63-B5FF921C5AD0}"/>
                </a:ext>
              </a:extLst>
            </p:cNvPr>
            <p:cNvSpPr/>
            <p:nvPr/>
          </p:nvSpPr>
          <p:spPr>
            <a:xfrm>
              <a:off x="1220432" y="1752600"/>
              <a:ext cx="1057952" cy="29076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07BEE35-8DFF-4960-B88D-8F58BC7C0E94}"/>
                </a:ext>
              </a:extLst>
            </p:cNvPr>
            <p:cNvSpPr/>
            <p:nvPr/>
          </p:nvSpPr>
          <p:spPr>
            <a:xfrm>
              <a:off x="1960682" y="2259230"/>
              <a:ext cx="317702" cy="1894354"/>
            </a:xfrm>
            <a:custGeom>
              <a:avLst/>
              <a:gdLst>
                <a:gd name="connsiteX0" fmla="*/ 315449 w 317702"/>
                <a:gd name="connsiteY0" fmla="*/ 0 h 1894354"/>
                <a:gd name="connsiteX1" fmla="*/ 317702 w 317702"/>
                <a:gd name="connsiteY1" fmla="*/ 22346 h 1894354"/>
                <a:gd name="connsiteX2" fmla="*/ 317702 w 317702"/>
                <a:gd name="connsiteY2" fmla="*/ 1872008 h 1894354"/>
                <a:gd name="connsiteX3" fmla="*/ 315450 w 317702"/>
                <a:gd name="connsiteY3" fmla="*/ 1894354 h 1894354"/>
                <a:gd name="connsiteX4" fmla="*/ 233221 w 317702"/>
                <a:gd name="connsiteY4" fmla="*/ 1849721 h 1894354"/>
                <a:gd name="connsiteX5" fmla="*/ 0 w 317702"/>
                <a:gd name="connsiteY5" fmla="*/ 1411086 h 1894354"/>
                <a:gd name="connsiteX6" fmla="*/ 0 w 317702"/>
                <a:gd name="connsiteY6" fmla="*/ 483267 h 1894354"/>
                <a:gd name="connsiteX7" fmla="*/ 233221 w 317702"/>
                <a:gd name="connsiteY7" fmla="*/ 44632 h 189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2" h="1894354">
                  <a:moveTo>
                    <a:pt x="315449" y="0"/>
                  </a:moveTo>
                  <a:lnTo>
                    <a:pt x="317702" y="22346"/>
                  </a:lnTo>
                  <a:lnTo>
                    <a:pt x="317702" y="1872008"/>
                  </a:lnTo>
                  <a:lnTo>
                    <a:pt x="315450" y="1894354"/>
                  </a:lnTo>
                  <a:lnTo>
                    <a:pt x="233221" y="1849721"/>
                  </a:lnTo>
                  <a:cubicBezTo>
                    <a:pt x="92512" y="1754660"/>
                    <a:pt x="0" y="1593677"/>
                    <a:pt x="0" y="1411086"/>
                  </a:cubicBezTo>
                  <a:lnTo>
                    <a:pt x="0" y="483267"/>
                  </a:lnTo>
                  <a:cubicBezTo>
                    <a:pt x="0" y="300677"/>
                    <a:pt x="92512" y="139693"/>
                    <a:pt x="233221" y="4463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27FE8D94-CD44-4405-B351-4EE2B5038112}"/>
                </a:ext>
              </a:extLst>
            </p:cNvPr>
            <p:cNvSpPr/>
            <p:nvPr/>
          </p:nvSpPr>
          <p:spPr>
            <a:xfrm>
              <a:off x="1963105" y="2210059"/>
              <a:ext cx="1057952" cy="198577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6D7EA43-2D24-4E75-9403-EF623E4A4958}"/>
                </a:ext>
              </a:extLst>
            </p:cNvPr>
            <p:cNvSpPr/>
            <p:nvPr/>
          </p:nvSpPr>
          <p:spPr>
            <a:xfrm>
              <a:off x="2761894" y="2722358"/>
              <a:ext cx="317701" cy="968101"/>
            </a:xfrm>
            <a:custGeom>
              <a:avLst/>
              <a:gdLst>
                <a:gd name="connsiteX0" fmla="*/ 315671 w 317701"/>
                <a:gd name="connsiteY0" fmla="*/ 0 h 968101"/>
                <a:gd name="connsiteX1" fmla="*/ 317701 w 317701"/>
                <a:gd name="connsiteY1" fmla="*/ 20140 h 968101"/>
                <a:gd name="connsiteX2" fmla="*/ 317701 w 317701"/>
                <a:gd name="connsiteY2" fmla="*/ 947959 h 968101"/>
                <a:gd name="connsiteX3" fmla="*/ 315671 w 317701"/>
                <a:gd name="connsiteY3" fmla="*/ 968101 h 968101"/>
                <a:gd name="connsiteX4" fmla="*/ 233221 w 317701"/>
                <a:gd name="connsiteY4" fmla="*/ 923348 h 968101"/>
                <a:gd name="connsiteX5" fmla="*/ 0 w 317701"/>
                <a:gd name="connsiteY5" fmla="*/ 484713 h 968101"/>
                <a:gd name="connsiteX6" fmla="*/ 0 w 317701"/>
                <a:gd name="connsiteY6" fmla="*/ 483387 h 968101"/>
                <a:gd name="connsiteX7" fmla="*/ 233221 w 317701"/>
                <a:gd name="connsiteY7" fmla="*/ 44752 h 96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1" h="968101">
                  <a:moveTo>
                    <a:pt x="315671" y="0"/>
                  </a:moveTo>
                  <a:lnTo>
                    <a:pt x="317701" y="20140"/>
                  </a:lnTo>
                  <a:lnTo>
                    <a:pt x="317701" y="947959"/>
                  </a:lnTo>
                  <a:lnTo>
                    <a:pt x="315671" y="968101"/>
                  </a:lnTo>
                  <a:lnTo>
                    <a:pt x="233221" y="923348"/>
                  </a:lnTo>
                  <a:cubicBezTo>
                    <a:pt x="92512" y="828287"/>
                    <a:pt x="0" y="667304"/>
                    <a:pt x="0" y="484713"/>
                  </a:cubicBezTo>
                  <a:lnTo>
                    <a:pt x="0" y="483387"/>
                  </a:lnTo>
                  <a:cubicBezTo>
                    <a:pt x="0" y="300797"/>
                    <a:pt x="92512" y="139813"/>
                    <a:pt x="233221" y="4475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2E05200-43E3-4F4A-94D9-75607137454E}"/>
                </a:ext>
              </a:extLst>
            </p:cNvPr>
            <p:cNvSpPr/>
            <p:nvPr/>
          </p:nvSpPr>
          <p:spPr>
            <a:xfrm>
              <a:off x="2822853" y="2676768"/>
              <a:ext cx="1057952" cy="105927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2" name="Graphic 61" descr="Gears">
            <a:extLst>
              <a:ext uri="{FF2B5EF4-FFF2-40B4-BE49-F238E27FC236}">
                <a16:creationId xmlns:a16="http://schemas.microsoft.com/office/drawing/2014/main" id="{6C00ADC4-A897-46FE-A1E1-5540E742379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0186" y="1898704"/>
            <a:ext cx="409729" cy="409729"/>
          </a:xfrm>
          <a:prstGeom prst="rect">
            <a:avLst/>
          </a:prstGeom>
        </p:spPr>
      </p:pic>
      <p:sp>
        <p:nvSpPr>
          <p:cNvPr id="64" name="Shape 130">
            <a:extLst>
              <a:ext uri="{FF2B5EF4-FFF2-40B4-BE49-F238E27FC236}">
                <a16:creationId xmlns:a16="http://schemas.microsoft.com/office/drawing/2014/main" id="{9A355D36-F678-4D6E-A2C4-642E474CE4A0}"/>
              </a:ext>
            </a:extLst>
          </p:cNvPr>
          <p:cNvSpPr txBox="1">
            <a:spLocks/>
          </p:cNvSpPr>
          <p:nvPr/>
        </p:nvSpPr>
        <p:spPr>
          <a:xfrm>
            <a:off x="2524073" y="3761722"/>
            <a:ext cx="1804004" cy="1751371"/>
          </a:xfrm>
          <a:prstGeom prst="rect">
            <a:avLst/>
          </a:prstGeom>
        </p:spPr>
        <p:txBody>
          <a:bodyPr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Understanding the data better like checking volatility among markets, annual growth etc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900" dirty="0">
              <a:latin typeface="Century Gothic" panose="020B0502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How can this data be presented better visually ?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5F31C2-C95B-4DC8-873B-0D9A823BA33B}"/>
              </a:ext>
            </a:extLst>
          </p:cNvPr>
          <p:cNvSpPr txBox="1"/>
          <p:nvPr/>
        </p:nvSpPr>
        <p:spPr>
          <a:xfrm>
            <a:off x="4876109" y="1212218"/>
            <a:ext cx="274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entury Gothic" panose="020B0502020202020204" pitchFamily="34" charset="0"/>
              </a:rPr>
              <a:t>Predictive modelling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7120D44-D9C2-420F-B77A-06E60313E7CF}"/>
              </a:ext>
            </a:extLst>
          </p:cNvPr>
          <p:cNvGrpSpPr/>
          <p:nvPr/>
        </p:nvGrpSpPr>
        <p:grpSpPr>
          <a:xfrm>
            <a:off x="5217776" y="1594756"/>
            <a:ext cx="1007581" cy="1124666"/>
            <a:chOff x="1220432" y="1752600"/>
            <a:chExt cx="2660373" cy="290761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8B264E7C-8B0A-4CCA-98AB-8752E8F16CCB}"/>
                </a:ext>
              </a:extLst>
            </p:cNvPr>
            <p:cNvSpPr/>
            <p:nvPr/>
          </p:nvSpPr>
          <p:spPr>
            <a:xfrm rot="5400000">
              <a:off x="1569459" y="2278180"/>
              <a:ext cx="2755409" cy="1856458"/>
            </a:xfrm>
            <a:custGeom>
              <a:avLst/>
              <a:gdLst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264094 w 3472683"/>
                <a:gd name="connsiteY3" fmla="*/ 195265 h 2339721"/>
                <a:gd name="connsiteX4" fmla="*/ 1735506 w 3472683"/>
                <a:gd name="connsiteY4" fmla="*/ 0 h 2339721"/>
                <a:gd name="connsiteX5" fmla="*/ 1737177 w 3472683"/>
                <a:gd name="connsiteY5" fmla="*/ 1 h 2339721"/>
                <a:gd name="connsiteX6" fmla="*/ 2208589 w 3472683"/>
                <a:gd name="connsiteY6" fmla="*/ 195266 h 2339721"/>
                <a:gd name="connsiteX7" fmla="*/ 2276970 w 3472683"/>
                <a:gd name="connsiteY7" fmla="*/ 278145 h 2339721"/>
                <a:gd name="connsiteX8" fmla="*/ 3472668 w 3472683"/>
                <a:gd name="connsiteY8" fmla="*/ 2339693 h 2339721"/>
                <a:gd name="connsiteX9" fmla="*/ 3472683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1737177 w 3472683"/>
                <a:gd name="connsiteY4" fmla="*/ 1 h 2339721"/>
                <a:gd name="connsiteX5" fmla="*/ 2208589 w 3472683"/>
                <a:gd name="connsiteY5" fmla="*/ 195266 h 2339721"/>
                <a:gd name="connsiteX6" fmla="*/ 2276970 w 3472683"/>
                <a:gd name="connsiteY6" fmla="*/ 278145 h 2339721"/>
                <a:gd name="connsiteX7" fmla="*/ 3472668 w 3472683"/>
                <a:gd name="connsiteY7" fmla="*/ 2339693 h 2339721"/>
                <a:gd name="connsiteX8" fmla="*/ 3472683 w 3472683"/>
                <a:gd name="connsiteY8" fmla="*/ 2339721 h 2339721"/>
                <a:gd name="connsiteX9" fmla="*/ 0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08589 w 3472683"/>
                <a:gd name="connsiteY4" fmla="*/ 195266 h 2339721"/>
                <a:gd name="connsiteX5" fmla="*/ 2276970 w 3472683"/>
                <a:gd name="connsiteY5" fmla="*/ 278145 h 2339721"/>
                <a:gd name="connsiteX6" fmla="*/ 3472668 w 3472683"/>
                <a:gd name="connsiteY6" fmla="*/ 2339693 h 2339721"/>
                <a:gd name="connsiteX7" fmla="*/ 3472683 w 3472683"/>
                <a:gd name="connsiteY7" fmla="*/ 2339721 h 2339721"/>
                <a:gd name="connsiteX8" fmla="*/ 0 w 3472683"/>
                <a:gd name="connsiteY8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76970 w 3472683"/>
                <a:gd name="connsiteY4" fmla="*/ 278145 h 2339721"/>
                <a:gd name="connsiteX5" fmla="*/ 3472668 w 3472683"/>
                <a:gd name="connsiteY5" fmla="*/ 2339693 h 2339721"/>
                <a:gd name="connsiteX6" fmla="*/ 3472683 w 3472683"/>
                <a:gd name="connsiteY6" fmla="*/ 2339721 h 2339721"/>
                <a:gd name="connsiteX7" fmla="*/ 0 w 3472683"/>
                <a:gd name="connsiteY7" fmla="*/ 2339721 h 2339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72683" h="2339721">
                  <a:moveTo>
                    <a:pt x="0" y="2339721"/>
                  </a:moveTo>
                  <a:cubicBezTo>
                    <a:pt x="10" y="2339702"/>
                    <a:pt x="21" y="2339683"/>
                    <a:pt x="31" y="2339664"/>
                  </a:cubicBezTo>
                  <a:lnTo>
                    <a:pt x="1195714" y="278142"/>
                  </a:lnTo>
                  <a:lnTo>
                    <a:pt x="1735506" y="0"/>
                  </a:lnTo>
                  <a:lnTo>
                    <a:pt x="2276970" y="278145"/>
                  </a:lnTo>
                  <a:lnTo>
                    <a:pt x="3472668" y="2339693"/>
                  </a:lnTo>
                  <a:cubicBezTo>
                    <a:pt x="3472673" y="2339702"/>
                    <a:pt x="3472678" y="2339712"/>
                    <a:pt x="3472683" y="2339721"/>
                  </a:cubicBezTo>
                  <a:lnTo>
                    <a:pt x="0" y="233972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A191760E-F742-4FDA-A678-07ADF0CF9E5F}"/>
                </a:ext>
              </a:extLst>
            </p:cNvPr>
            <p:cNvSpPr/>
            <p:nvPr/>
          </p:nvSpPr>
          <p:spPr>
            <a:xfrm>
              <a:off x="1220432" y="1752600"/>
              <a:ext cx="1057952" cy="2907614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97E65F8-1C1B-4469-A20E-A5A749BD8C50}"/>
                </a:ext>
              </a:extLst>
            </p:cNvPr>
            <p:cNvSpPr/>
            <p:nvPr/>
          </p:nvSpPr>
          <p:spPr>
            <a:xfrm>
              <a:off x="1960682" y="2259230"/>
              <a:ext cx="317702" cy="1894354"/>
            </a:xfrm>
            <a:custGeom>
              <a:avLst/>
              <a:gdLst>
                <a:gd name="connsiteX0" fmla="*/ 315449 w 317702"/>
                <a:gd name="connsiteY0" fmla="*/ 0 h 1894354"/>
                <a:gd name="connsiteX1" fmla="*/ 317702 w 317702"/>
                <a:gd name="connsiteY1" fmla="*/ 22346 h 1894354"/>
                <a:gd name="connsiteX2" fmla="*/ 317702 w 317702"/>
                <a:gd name="connsiteY2" fmla="*/ 1872008 h 1894354"/>
                <a:gd name="connsiteX3" fmla="*/ 315450 w 317702"/>
                <a:gd name="connsiteY3" fmla="*/ 1894354 h 1894354"/>
                <a:gd name="connsiteX4" fmla="*/ 233221 w 317702"/>
                <a:gd name="connsiteY4" fmla="*/ 1849721 h 1894354"/>
                <a:gd name="connsiteX5" fmla="*/ 0 w 317702"/>
                <a:gd name="connsiteY5" fmla="*/ 1411086 h 1894354"/>
                <a:gd name="connsiteX6" fmla="*/ 0 w 317702"/>
                <a:gd name="connsiteY6" fmla="*/ 483267 h 1894354"/>
                <a:gd name="connsiteX7" fmla="*/ 233221 w 317702"/>
                <a:gd name="connsiteY7" fmla="*/ 44632 h 189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2" h="1894354">
                  <a:moveTo>
                    <a:pt x="315449" y="0"/>
                  </a:moveTo>
                  <a:lnTo>
                    <a:pt x="317702" y="22346"/>
                  </a:lnTo>
                  <a:lnTo>
                    <a:pt x="317702" y="1872008"/>
                  </a:lnTo>
                  <a:lnTo>
                    <a:pt x="315450" y="1894354"/>
                  </a:lnTo>
                  <a:lnTo>
                    <a:pt x="233221" y="1849721"/>
                  </a:lnTo>
                  <a:cubicBezTo>
                    <a:pt x="92512" y="1754660"/>
                    <a:pt x="0" y="1593677"/>
                    <a:pt x="0" y="1411086"/>
                  </a:cubicBezTo>
                  <a:lnTo>
                    <a:pt x="0" y="483267"/>
                  </a:lnTo>
                  <a:cubicBezTo>
                    <a:pt x="0" y="300677"/>
                    <a:pt x="92512" y="139693"/>
                    <a:pt x="233221" y="4463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8778B409-9C64-4226-BAF0-C5529927F6BE}"/>
                </a:ext>
              </a:extLst>
            </p:cNvPr>
            <p:cNvSpPr/>
            <p:nvPr/>
          </p:nvSpPr>
          <p:spPr>
            <a:xfrm>
              <a:off x="1963105" y="2210059"/>
              <a:ext cx="1057952" cy="198577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52E3A79-3084-4665-96BD-0A3B8DDD1478}"/>
                </a:ext>
              </a:extLst>
            </p:cNvPr>
            <p:cNvSpPr/>
            <p:nvPr/>
          </p:nvSpPr>
          <p:spPr>
            <a:xfrm>
              <a:off x="2761894" y="2722358"/>
              <a:ext cx="317701" cy="968101"/>
            </a:xfrm>
            <a:custGeom>
              <a:avLst/>
              <a:gdLst>
                <a:gd name="connsiteX0" fmla="*/ 315671 w 317701"/>
                <a:gd name="connsiteY0" fmla="*/ 0 h 968101"/>
                <a:gd name="connsiteX1" fmla="*/ 317701 w 317701"/>
                <a:gd name="connsiteY1" fmla="*/ 20140 h 968101"/>
                <a:gd name="connsiteX2" fmla="*/ 317701 w 317701"/>
                <a:gd name="connsiteY2" fmla="*/ 947959 h 968101"/>
                <a:gd name="connsiteX3" fmla="*/ 315671 w 317701"/>
                <a:gd name="connsiteY3" fmla="*/ 968101 h 968101"/>
                <a:gd name="connsiteX4" fmla="*/ 233221 w 317701"/>
                <a:gd name="connsiteY4" fmla="*/ 923348 h 968101"/>
                <a:gd name="connsiteX5" fmla="*/ 0 w 317701"/>
                <a:gd name="connsiteY5" fmla="*/ 484713 h 968101"/>
                <a:gd name="connsiteX6" fmla="*/ 0 w 317701"/>
                <a:gd name="connsiteY6" fmla="*/ 483387 h 968101"/>
                <a:gd name="connsiteX7" fmla="*/ 233221 w 317701"/>
                <a:gd name="connsiteY7" fmla="*/ 44752 h 96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1" h="968101">
                  <a:moveTo>
                    <a:pt x="315671" y="0"/>
                  </a:moveTo>
                  <a:lnTo>
                    <a:pt x="317701" y="20140"/>
                  </a:lnTo>
                  <a:lnTo>
                    <a:pt x="317701" y="947959"/>
                  </a:lnTo>
                  <a:lnTo>
                    <a:pt x="315671" y="968101"/>
                  </a:lnTo>
                  <a:lnTo>
                    <a:pt x="233221" y="923348"/>
                  </a:lnTo>
                  <a:cubicBezTo>
                    <a:pt x="92512" y="828287"/>
                    <a:pt x="0" y="667304"/>
                    <a:pt x="0" y="484713"/>
                  </a:cubicBezTo>
                  <a:lnTo>
                    <a:pt x="0" y="483387"/>
                  </a:lnTo>
                  <a:cubicBezTo>
                    <a:pt x="0" y="300797"/>
                    <a:pt x="92512" y="139813"/>
                    <a:pt x="233221" y="4475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2879C008-88C9-4355-A4C7-5140BEEB17CB}"/>
                </a:ext>
              </a:extLst>
            </p:cNvPr>
            <p:cNvSpPr/>
            <p:nvPr/>
          </p:nvSpPr>
          <p:spPr>
            <a:xfrm>
              <a:off x="2822853" y="2676768"/>
              <a:ext cx="1057952" cy="1059278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Shape 127">
            <a:extLst>
              <a:ext uri="{FF2B5EF4-FFF2-40B4-BE49-F238E27FC236}">
                <a16:creationId xmlns:a16="http://schemas.microsoft.com/office/drawing/2014/main" id="{9606C498-5661-4277-84EC-E021293F6424}"/>
              </a:ext>
            </a:extLst>
          </p:cNvPr>
          <p:cNvGrpSpPr/>
          <p:nvPr/>
        </p:nvGrpSpPr>
        <p:grpSpPr>
          <a:xfrm>
            <a:off x="5308251" y="2677528"/>
            <a:ext cx="263054" cy="717717"/>
            <a:chOff x="2223534" y="2938958"/>
            <a:chExt cx="198900" cy="593656"/>
          </a:xfrm>
        </p:grpSpPr>
        <p:cxnSp>
          <p:nvCxnSpPr>
            <p:cNvPr id="98" name="Shape 128">
              <a:extLst>
                <a:ext uri="{FF2B5EF4-FFF2-40B4-BE49-F238E27FC236}">
                  <a16:creationId xmlns:a16="http://schemas.microsoft.com/office/drawing/2014/main" id="{6CA841AB-5D9E-4867-B90C-2BA5F0886122}"/>
                </a:ext>
              </a:extLst>
            </p:cNvPr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9" name="Shape 129">
              <a:extLst>
                <a:ext uri="{FF2B5EF4-FFF2-40B4-BE49-F238E27FC236}">
                  <a16:creationId xmlns:a16="http://schemas.microsoft.com/office/drawing/2014/main" id="{75BB2C67-33BC-481B-91EB-385FF918E781}"/>
                </a:ext>
              </a:extLst>
            </p:cNvPr>
            <p:cNvSpPr/>
            <p:nvPr/>
          </p:nvSpPr>
          <p:spPr>
            <a:xfrm rot="10800000" flipH="1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pic>
        <p:nvPicPr>
          <p:cNvPr id="103" name="Picture 102">
            <a:extLst>
              <a:ext uri="{FF2B5EF4-FFF2-40B4-BE49-F238E27FC236}">
                <a16:creationId xmlns:a16="http://schemas.microsoft.com/office/drawing/2014/main" id="{16F44452-253B-4B71-B514-6D4A9951B77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64889" y1="30667" x2="64889" y2="30667"/>
                        <a14:foregroundMark x1="71111" y1="37778" x2="71111" y2="37778"/>
                        <a14:foregroundMark x1="65778" y1="41778" x2="65778" y2="41778"/>
                        <a14:foregroundMark x1="61333" y1="44889" x2="61333" y2="44889"/>
                        <a14:foregroundMark x1="59111" y1="49778" x2="59111" y2="49778"/>
                        <a14:foregroundMark x1="52444" y1="55111" x2="52444" y2="55111"/>
                        <a14:foregroundMark x1="61778" y1="52444" x2="61778" y2="52444"/>
                        <a14:foregroundMark x1="62222" y1="57778" x2="62222" y2="57778"/>
                        <a14:foregroundMark x1="62222" y1="65778" x2="62222" y2="65778"/>
                        <a14:foregroundMark x1="62667" y1="72444" x2="62667" y2="72444"/>
                        <a14:foregroundMark x1="55556" y1="73778" x2="55556" y2="73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513" y="1905168"/>
            <a:ext cx="443731" cy="501162"/>
          </a:xfrm>
          <a:prstGeom prst="rect">
            <a:avLst/>
          </a:prstGeom>
        </p:spPr>
      </p:pic>
      <p:sp>
        <p:nvSpPr>
          <p:cNvPr id="104" name="Shape 130">
            <a:extLst>
              <a:ext uri="{FF2B5EF4-FFF2-40B4-BE49-F238E27FC236}">
                <a16:creationId xmlns:a16="http://schemas.microsoft.com/office/drawing/2014/main" id="{B4B8ADCB-F21C-4C89-A344-96F364058BD4}"/>
              </a:ext>
            </a:extLst>
          </p:cNvPr>
          <p:cNvSpPr txBox="1">
            <a:spLocks/>
          </p:cNvSpPr>
          <p:nvPr/>
        </p:nvSpPr>
        <p:spPr>
          <a:xfrm>
            <a:off x="4683429" y="3513095"/>
            <a:ext cx="1983893" cy="2020846"/>
          </a:xfrm>
          <a:prstGeom prst="rect">
            <a:avLst/>
          </a:prstGeom>
        </p:spPr>
        <p:txBody>
          <a:bodyPr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900" dirty="0">
                <a:latin typeface="Century Gothic" panose="020B0502020202020204" pitchFamily="34" charset="0"/>
              </a:rPr>
              <a:t>Answer the objective: To predict the next day direction of Nifty50 based on global parameters</a:t>
            </a:r>
          </a:p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900" dirty="0">
              <a:latin typeface="Century Gothic" panose="020B0502020202020204" pitchFamily="34" charset="0"/>
            </a:endParaRPr>
          </a:p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900" dirty="0">
                <a:latin typeface="Century Gothic" panose="020B0502020202020204" pitchFamily="34" charset="0"/>
              </a:rPr>
              <a:t>Using logistic regression and ML methods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B20716E-A325-4D34-A7B0-22FD37D490C6}"/>
              </a:ext>
            </a:extLst>
          </p:cNvPr>
          <p:cNvSpPr txBox="1"/>
          <p:nvPr/>
        </p:nvSpPr>
        <p:spPr>
          <a:xfrm>
            <a:off x="7454889" y="1217682"/>
            <a:ext cx="274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entury Gothic" panose="020B0502020202020204" pitchFamily="34" charset="0"/>
              </a:rPr>
              <a:t>Text mining 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DB80107-B329-4FB4-9AD4-11317C052DA8}"/>
              </a:ext>
            </a:extLst>
          </p:cNvPr>
          <p:cNvGrpSpPr/>
          <p:nvPr/>
        </p:nvGrpSpPr>
        <p:grpSpPr>
          <a:xfrm>
            <a:off x="7598635" y="1577744"/>
            <a:ext cx="1007581" cy="1124666"/>
            <a:chOff x="1220432" y="1752600"/>
            <a:chExt cx="2660373" cy="2907614"/>
          </a:xfrm>
        </p:grpSpPr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C4E05B2-58A1-451C-AD0D-D571A5A9FB35}"/>
                </a:ext>
              </a:extLst>
            </p:cNvPr>
            <p:cNvSpPr/>
            <p:nvPr/>
          </p:nvSpPr>
          <p:spPr>
            <a:xfrm rot="5400000">
              <a:off x="1569459" y="2278180"/>
              <a:ext cx="2755409" cy="1856458"/>
            </a:xfrm>
            <a:custGeom>
              <a:avLst/>
              <a:gdLst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264094 w 3472683"/>
                <a:gd name="connsiteY3" fmla="*/ 195265 h 2339721"/>
                <a:gd name="connsiteX4" fmla="*/ 1735506 w 3472683"/>
                <a:gd name="connsiteY4" fmla="*/ 0 h 2339721"/>
                <a:gd name="connsiteX5" fmla="*/ 1737177 w 3472683"/>
                <a:gd name="connsiteY5" fmla="*/ 1 h 2339721"/>
                <a:gd name="connsiteX6" fmla="*/ 2208589 w 3472683"/>
                <a:gd name="connsiteY6" fmla="*/ 195266 h 2339721"/>
                <a:gd name="connsiteX7" fmla="*/ 2276970 w 3472683"/>
                <a:gd name="connsiteY7" fmla="*/ 278145 h 2339721"/>
                <a:gd name="connsiteX8" fmla="*/ 3472668 w 3472683"/>
                <a:gd name="connsiteY8" fmla="*/ 2339693 h 2339721"/>
                <a:gd name="connsiteX9" fmla="*/ 3472683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1737177 w 3472683"/>
                <a:gd name="connsiteY4" fmla="*/ 1 h 2339721"/>
                <a:gd name="connsiteX5" fmla="*/ 2208589 w 3472683"/>
                <a:gd name="connsiteY5" fmla="*/ 195266 h 2339721"/>
                <a:gd name="connsiteX6" fmla="*/ 2276970 w 3472683"/>
                <a:gd name="connsiteY6" fmla="*/ 278145 h 2339721"/>
                <a:gd name="connsiteX7" fmla="*/ 3472668 w 3472683"/>
                <a:gd name="connsiteY7" fmla="*/ 2339693 h 2339721"/>
                <a:gd name="connsiteX8" fmla="*/ 3472683 w 3472683"/>
                <a:gd name="connsiteY8" fmla="*/ 2339721 h 2339721"/>
                <a:gd name="connsiteX9" fmla="*/ 0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08589 w 3472683"/>
                <a:gd name="connsiteY4" fmla="*/ 195266 h 2339721"/>
                <a:gd name="connsiteX5" fmla="*/ 2276970 w 3472683"/>
                <a:gd name="connsiteY5" fmla="*/ 278145 h 2339721"/>
                <a:gd name="connsiteX6" fmla="*/ 3472668 w 3472683"/>
                <a:gd name="connsiteY6" fmla="*/ 2339693 h 2339721"/>
                <a:gd name="connsiteX7" fmla="*/ 3472683 w 3472683"/>
                <a:gd name="connsiteY7" fmla="*/ 2339721 h 2339721"/>
                <a:gd name="connsiteX8" fmla="*/ 0 w 3472683"/>
                <a:gd name="connsiteY8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76970 w 3472683"/>
                <a:gd name="connsiteY4" fmla="*/ 278145 h 2339721"/>
                <a:gd name="connsiteX5" fmla="*/ 3472668 w 3472683"/>
                <a:gd name="connsiteY5" fmla="*/ 2339693 h 2339721"/>
                <a:gd name="connsiteX6" fmla="*/ 3472683 w 3472683"/>
                <a:gd name="connsiteY6" fmla="*/ 2339721 h 2339721"/>
                <a:gd name="connsiteX7" fmla="*/ 0 w 3472683"/>
                <a:gd name="connsiteY7" fmla="*/ 2339721 h 2339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72683" h="2339721">
                  <a:moveTo>
                    <a:pt x="0" y="2339721"/>
                  </a:moveTo>
                  <a:cubicBezTo>
                    <a:pt x="10" y="2339702"/>
                    <a:pt x="21" y="2339683"/>
                    <a:pt x="31" y="2339664"/>
                  </a:cubicBezTo>
                  <a:lnTo>
                    <a:pt x="1195714" y="278142"/>
                  </a:lnTo>
                  <a:lnTo>
                    <a:pt x="1735506" y="0"/>
                  </a:lnTo>
                  <a:lnTo>
                    <a:pt x="2276970" y="278145"/>
                  </a:lnTo>
                  <a:lnTo>
                    <a:pt x="3472668" y="2339693"/>
                  </a:lnTo>
                  <a:cubicBezTo>
                    <a:pt x="3472673" y="2339702"/>
                    <a:pt x="3472678" y="2339712"/>
                    <a:pt x="3472683" y="2339721"/>
                  </a:cubicBezTo>
                  <a:lnTo>
                    <a:pt x="0" y="233972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3AA38D7D-2C9A-426C-A6F9-C0925CD8FBCD}"/>
                </a:ext>
              </a:extLst>
            </p:cNvPr>
            <p:cNvSpPr/>
            <p:nvPr/>
          </p:nvSpPr>
          <p:spPr>
            <a:xfrm>
              <a:off x="1220432" y="1752600"/>
              <a:ext cx="1057952" cy="2907614"/>
            </a:xfrm>
            <a:prstGeom prst="roundRect">
              <a:avLst>
                <a:gd name="adj" fmla="val 50000"/>
              </a:avLst>
            </a:prstGeom>
            <a:solidFill>
              <a:srgbClr val="7CB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96FCA74-BEBD-461C-B40C-C2B623BEF261}"/>
                </a:ext>
              </a:extLst>
            </p:cNvPr>
            <p:cNvSpPr/>
            <p:nvPr/>
          </p:nvSpPr>
          <p:spPr>
            <a:xfrm>
              <a:off x="1960682" y="2259230"/>
              <a:ext cx="317702" cy="1894354"/>
            </a:xfrm>
            <a:custGeom>
              <a:avLst/>
              <a:gdLst>
                <a:gd name="connsiteX0" fmla="*/ 315449 w 317702"/>
                <a:gd name="connsiteY0" fmla="*/ 0 h 1894354"/>
                <a:gd name="connsiteX1" fmla="*/ 317702 w 317702"/>
                <a:gd name="connsiteY1" fmla="*/ 22346 h 1894354"/>
                <a:gd name="connsiteX2" fmla="*/ 317702 w 317702"/>
                <a:gd name="connsiteY2" fmla="*/ 1872008 h 1894354"/>
                <a:gd name="connsiteX3" fmla="*/ 315450 w 317702"/>
                <a:gd name="connsiteY3" fmla="*/ 1894354 h 1894354"/>
                <a:gd name="connsiteX4" fmla="*/ 233221 w 317702"/>
                <a:gd name="connsiteY4" fmla="*/ 1849721 h 1894354"/>
                <a:gd name="connsiteX5" fmla="*/ 0 w 317702"/>
                <a:gd name="connsiteY5" fmla="*/ 1411086 h 1894354"/>
                <a:gd name="connsiteX6" fmla="*/ 0 w 317702"/>
                <a:gd name="connsiteY6" fmla="*/ 483267 h 1894354"/>
                <a:gd name="connsiteX7" fmla="*/ 233221 w 317702"/>
                <a:gd name="connsiteY7" fmla="*/ 44632 h 189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2" h="1894354">
                  <a:moveTo>
                    <a:pt x="315449" y="0"/>
                  </a:moveTo>
                  <a:lnTo>
                    <a:pt x="317702" y="22346"/>
                  </a:lnTo>
                  <a:lnTo>
                    <a:pt x="317702" y="1872008"/>
                  </a:lnTo>
                  <a:lnTo>
                    <a:pt x="315450" y="1894354"/>
                  </a:lnTo>
                  <a:lnTo>
                    <a:pt x="233221" y="1849721"/>
                  </a:lnTo>
                  <a:cubicBezTo>
                    <a:pt x="92512" y="1754660"/>
                    <a:pt x="0" y="1593677"/>
                    <a:pt x="0" y="1411086"/>
                  </a:cubicBezTo>
                  <a:lnTo>
                    <a:pt x="0" y="483267"/>
                  </a:lnTo>
                  <a:cubicBezTo>
                    <a:pt x="0" y="300677"/>
                    <a:pt x="92512" y="139693"/>
                    <a:pt x="233221" y="4463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B450259F-81E2-41DF-95AC-64769A08EB99}"/>
                </a:ext>
              </a:extLst>
            </p:cNvPr>
            <p:cNvSpPr/>
            <p:nvPr/>
          </p:nvSpPr>
          <p:spPr>
            <a:xfrm>
              <a:off x="1963105" y="2210059"/>
              <a:ext cx="1057952" cy="1985771"/>
            </a:xfrm>
            <a:prstGeom prst="roundRect">
              <a:avLst>
                <a:gd name="adj" fmla="val 50000"/>
              </a:avLst>
            </a:prstGeom>
            <a:solidFill>
              <a:srgbClr val="BEE3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AA48C6F-7D20-4C94-A6FF-B6D96D83E5F7}"/>
                </a:ext>
              </a:extLst>
            </p:cNvPr>
            <p:cNvSpPr/>
            <p:nvPr/>
          </p:nvSpPr>
          <p:spPr>
            <a:xfrm>
              <a:off x="2761894" y="2722358"/>
              <a:ext cx="317701" cy="968101"/>
            </a:xfrm>
            <a:custGeom>
              <a:avLst/>
              <a:gdLst>
                <a:gd name="connsiteX0" fmla="*/ 315671 w 317701"/>
                <a:gd name="connsiteY0" fmla="*/ 0 h 968101"/>
                <a:gd name="connsiteX1" fmla="*/ 317701 w 317701"/>
                <a:gd name="connsiteY1" fmla="*/ 20140 h 968101"/>
                <a:gd name="connsiteX2" fmla="*/ 317701 w 317701"/>
                <a:gd name="connsiteY2" fmla="*/ 947959 h 968101"/>
                <a:gd name="connsiteX3" fmla="*/ 315671 w 317701"/>
                <a:gd name="connsiteY3" fmla="*/ 968101 h 968101"/>
                <a:gd name="connsiteX4" fmla="*/ 233221 w 317701"/>
                <a:gd name="connsiteY4" fmla="*/ 923348 h 968101"/>
                <a:gd name="connsiteX5" fmla="*/ 0 w 317701"/>
                <a:gd name="connsiteY5" fmla="*/ 484713 h 968101"/>
                <a:gd name="connsiteX6" fmla="*/ 0 w 317701"/>
                <a:gd name="connsiteY6" fmla="*/ 483387 h 968101"/>
                <a:gd name="connsiteX7" fmla="*/ 233221 w 317701"/>
                <a:gd name="connsiteY7" fmla="*/ 44752 h 96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1" h="968101">
                  <a:moveTo>
                    <a:pt x="315671" y="0"/>
                  </a:moveTo>
                  <a:lnTo>
                    <a:pt x="317701" y="20140"/>
                  </a:lnTo>
                  <a:lnTo>
                    <a:pt x="317701" y="947959"/>
                  </a:lnTo>
                  <a:lnTo>
                    <a:pt x="315671" y="968101"/>
                  </a:lnTo>
                  <a:lnTo>
                    <a:pt x="233221" y="923348"/>
                  </a:lnTo>
                  <a:cubicBezTo>
                    <a:pt x="92512" y="828287"/>
                    <a:pt x="0" y="667304"/>
                    <a:pt x="0" y="484713"/>
                  </a:cubicBezTo>
                  <a:lnTo>
                    <a:pt x="0" y="483387"/>
                  </a:lnTo>
                  <a:cubicBezTo>
                    <a:pt x="0" y="300797"/>
                    <a:pt x="92512" y="139813"/>
                    <a:pt x="233221" y="4475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8B056723-80D1-440D-895D-8BEC7807B449}"/>
                </a:ext>
              </a:extLst>
            </p:cNvPr>
            <p:cNvSpPr/>
            <p:nvPr/>
          </p:nvSpPr>
          <p:spPr>
            <a:xfrm>
              <a:off x="2822853" y="2676768"/>
              <a:ext cx="1057952" cy="1059278"/>
            </a:xfrm>
            <a:prstGeom prst="roundRect">
              <a:avLst>
                <a:gd name="adj" fmla="val 50000"/>
              </a:avLst>
            </a:prstGeom>
            <a:solidFill>
              <a:srgbClr val="DDF0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7" name="Picture 126">
            <a:extLst>
              <a:ext uri="{FF2B5EF4-FFF2-40B4-BE49-F238E27FC236}">
                <a16:creationId xmlns:a16="http://schemas.microsoft.com/office/drawing/2014/main" id="{57AA0CF5-AC1E-4FAE-A807-305DAAFE2B6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40714" y1="49081" x2="40714" y2="49081"/>
                        <a14:foregroundMark x1="42857" y1="42857" x2="42857" y2="42857"/>
                        <a14:foregroundMark x1="41905" y1="38331" x2="41905" y2="383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264" y="1962506"/>
            <a:ext cx="495092" cy="416702"/>
          </a:xfrm>
          <a:prstGeom prst="rect">
            <a:avLst/>
          </a:prstGeom>
        </p:spPr>
      </p:pic>
      <p:sp>
        <p:nvSpPr>
          <p:cNvPr id="128" name="Shape 130">
            <a:extLst>
              <a:ext uri="{FF2B5EF4-FFF2-40B4-BE49-F238E27FC236}">
                <a16:creationId xmlns:a16="http://schemas.microsoft.com/office/drawing/2014/main" id="{047CEC2E-4C6D-4D09-8DCB-A2E59A90926B}"/>
              </a:ext>
            </a:extLst>
          </p:cNvPr>
          <p:cNvSpPr txBox="1">
            <a:spLocks/>
          </p:cNvSpPr>
          <p:nvPr/>
        </p:nvSpPr>
        <p:spPr>
          <a:xfrm>
            <a:off x="7067225" y="3744673"/>
            <a:ext cx="1804004" cy="966858"/>
          </a:xfrm>
          <a:prstGeom prst="rect">
            <a:avLst/>
          </a:prstGeom>
        </p:spPr>
        <p:txBody>
          <a:bodyPr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Understand the Sentiments about global markets </a:t>
            </a:r>
          </a:p>
        </p:txBody>
      </p:sp>
    </p:spTree>
    <p:extLst>
      <p:ext uri="{BB962C8B-B14F-4D97-AF65-F5344CB8AC3E}">
        <p14:creationId xmlns:p14="http://schemas.microsoft.com/office/powerpoint/2010/main" val="1564938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Eras Demi ITC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ts val="5800"/>
              </a:lnSpc>
            </a:pPr>
            <a:r>
              <a:rPr lang="en-IN" b="1">
                <a:solidFill>
                  <a:srgbClr val="3891A7"/>
                </a:solidFill>
                <a:latin typeface="Ebrima"/>
              </a:rPr>
              <a:t>THANK YOU!</a:t>
            </a:r>
          </a:p>
        </p:txBody>
      </p:sp>
      <p:sp>
        <p:nvSpPr>
          <p:cNvPr id="3" name="Rectangle 2"/>
          <p:cNvSpPr/>
          <p:nvPr>
            <p:custDataLst>
              <p:tags r:id="rId2"/>
            </p:custDataLst>
          </p:nvPr>
        </p:nvSpPr>
        <p:spPr>
          <a:xfrm>
            <a:off x="0" y="5638800"/>
            <a:ext cx="3156758" cy="4692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>
            <p:custDataLst>
              <p:tags r:id="rId3"/>
            </p:custDataLst>
          </p:nvPr>
        </p:nvSpPr>
        <p:spPr>
          <a:xfrm>
            <a:off x="3386141" y="5638800"/>
            <a:ext cx="2371719" cy="469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>
            <p:custDataLst>
              <p:tags r:id="rId4"/>
            </p:custDataLst>
          </p:nvPr>
        </p:nvSpPr>
        <p:spPr>
          <a:xfrm>
            <a:off x="5987242" y="5638800"/>
            <a:ext cx="3156758" cy="4692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60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6&quot;/&gt;&lt;lineCharCount val=&quot;17&quot;/&gt;&lt;/TableIndex&gt;&lt;/ShapeTextInfo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55&quot;/&gt;&lt;lineCharCount val=&quot;14&quot;/&gt;&lt;lineCharCount val=&quot;13&quot;/&gt;&lt;lineCharCount val=&quot;13&quot;/&gt;&lt;lineCharCount val=&quot;1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PRESENTER_DUMMYTAG" val="&lt;DummyForForceWrite&gt;&lt;/DummyForForceWrite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PRESENTER_DUMMYTAG" val="&lt;DummyForForceWrite&gt;&lt;/DummyForForceWrite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PRESENTER_DUMMYTAG" val="&lt;DummyForForceWrite&gt;&lt;/DummyForForceWrite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1&quot;/&gt;&lt;lineCharCount val=&quot;36&quot;/&gt;&lt;lineCharCount val=&quot;35&quot;/&gt;&lt;lineCharCount val=&quot;49&quot;/&gt;&lt;lineCharCount val=&quot;24&quot;/&gt;&lt;lineCharCount val=&quot;22&quot;/&gt;&lt;lineCharCount val=&quot;21&quot;/&gt;&lt;lineCharCount val=&quot;25&quot;/&gt;&lt;lineCharCount val=&quot;15&quot;/&gt;&lt;lineCharCount val=&quot;19&quot;/&gt;&lt;lineCharCount val=&quot;50&quot;/&gt;&lt;lineCharCount val=&quot;38&quot;/&gt;&lt;/TableIndex&gt;&lt;/ShapeTextInfo&gt;"/>
  <p:tag name="HTML_SHAPEINFO" val="&lt;TextEffect&gt;&lt;Image&gt;&lt;filename val=&quot;C:\Users\Dell\AppData\Local\Temp\CP1156608419281Session\CPTrustFolder1156608419296\PPTImport1156618459906\data\asimages\{CFC6DBA8-E81F-49A2-A168-E8596894BF65}_1.png_crop.png&quot;/&gt;&lt;left val=&quot;60&quot;/&gt;&lt;top val=&quot;202&quot;/&gt;&lt;width val=&quot;496&quot;/&gt;&lt;height val=&quot;26&quot;/&gt;&lt;hasText val=&quot;1&quot;/&gt;&lt;paraId val=&quot;1&quot;/&gt;&lt;/Image&gt;&lt;Image&gt;&lt;filename val=&quot;C:\Users\Dell\AppData\Local\Temp\CP1156608419281Session\CPTrustFolder1156608419296\PPTImport1156618459906\data\asimages\{9DFC37CE-9851-41A3-BD8D-2FF3F9644BBA}_1.png_crop.png&quot;/&gt;&lt;left val=&quot;58&quot;/&gt;&lt;top val=&quot;241&quot;/&gt;&lt;width val=&quot;481&quot;/&gt;&lt;height val=&quot;26&quot;/&gt;&lt;hasText val=&quot;1&quot;/&gt;&lt;paraId val=&quot;2&quot;/&gt;&lt;/Image&gt;&lt;Image&gt;&lt;filename val=&quot;C:\Users\Dell\AppData\Local\Temp\CP1156608419281Session\CPTrustFolder1156608419296\PPTImport1156618459906\data\asimages\{8E79F4C1-4FA0-4323-B95C-DC6BBE1868AC}_1.png_crop.png&quot;/&gt;&lt;left val=&quot;59&quot;/&gt;&lt;top val=&quot;279&quot;/&gt;&lt;width val=&quot;640&quot;/&gt;&lt;height val=&quot;26&quot;/&gt;&lt;hasText val=&quot;1&quot;/&gt;&lt;paraId val=&quot;3&quot;/&gt;&lt;/Image&gt;&lt;Image&gt;&lt;filename val=&quot;C:\Users\Dell\AppData\Local\Temp\CP1156608419281Session\CPTrustFolder1156608419296\PPTImport1156618459906\data\asimages\{95C0BFFA-FBB3-44C6-B0B1-F67E648BDEF8}_1.png_crop.png&quot;/&gt;&lt;left val=&quot;58&quot;/&gt;&lt;top val=&quot;318&quot;/&gt;&lt;width val=&quot;365&quot;/&gt;&lt;height val=&quot;26&quot;/&gt;&lt;hasText val=&quot;1&quot;/&gt;&lt;paraId val=&quot;4&quot;/&gt;&lt;/Image&gt;&lt;Image&gt;&lt;filename val=&quot;C:\Users\Dell\AppData\Local\Temp\CP1156608419281Session\CPTrustFolder1156608419296\PPTImport1156618459906\data\asimages\{2870CD6D-5B0E-4E40-AACF-60E2CCE5EC78}_1.png_crop.png&quot;/&gt;&lt;left val=&quot;59&quot;/&gt;&lt;top val=&quot;356&quot;/&gt;&lt;width val=&quot;344&quot;/&gt;&lt;height val=&quot;26&quot;/&gt;&lt;hasText val=&quot;1&quot;/&gt;&lt;paraId val=&quot;5&quot;/&gt;&lt;/Image&gt;&lt;Image&gt;&lt;filename val=&quot;C:\Users\Dell\AppData\Local\Temp\CP1156608419281Session\CPTrustFolder1156608419296\PPTImport1156618459906\data\asimages\{D144240A-BBA1-452D-B902-1735F474A11D}_1.png_crop.png&quot;/&gt;&lt;left val=&quot;107&quot;/&gt;&lt;top val=&quot;395&quot;/&gt;&lt;width val=&quot;346&quot;/&gt;&lt;height val=&quot;20&quot;/&gt;&lt;hasText val=&quot;1&quot;/&gt;&lt;paraId val=&quot;6&quot;/&gt;&lt;/Image&gt;&lt;Image&gt;&lt;filename val=&quot;C:\Users\Dell\AppData\Local\Temp\CP1156608419281Session\CPTrustFolder1156608419296\PPTImport1156618459906\data\asimages\{5FB53B1E-BC00-4F66-BFC7-44868F3124BE}_1.png_crop.png&quot;/&gt;&lt;left val=&quot;107&quot;/&gt;&lt;top val=&quot;433&quot;/&gt;&lt;width val=&quot;360&quot;/&gt;&lt;height val=&quot;26&quot;/&gt;&lt;hasText val=&quot;1&quot;/&gt;&lt;paraId val=&quot;7&quot;/&gt;&lt;/Image&gt;&lt;Image&gt;&lt;filename val=&quot;C:\Users\Dell\AppData\Local\Temp\CP1156608419281Session\CPTrustFolder1156608419296\PPTImport1156618459906\data\asimages\{B8EC738B-D835-4E1E-86E1-EFEAF1B7BAAF}_1.png_crop.png&quot;/&gt;&lt;left val=&quot;58&quot;/&gt;&lt;top val=&quot;472&quot;/&gt;&lt;width val=&quot;226&quot;/&gt;&lt;height val=&quot;26&quot;/&gt;&lt;hasText val=&quot;1&quot;/&gt;&lt;paraId val=&quot;8&quot;/&gt;&lt;/Image&gt;&lt;Image&gt;&lt;filename val=&quot;C:\Users\Dell\AppData\Local\Temp\CP1156608419281Session\CPTrustFolder1156608419296\PPTImport1156618459906\data\asimages\{E19C5118-5576-4D24-8819-E749D6A42079}_1.png_crop.png&quot;/&gt;&lt;left val=&quot;58&quot;/&gt;&lt;top val=&quot;510&quot;/&gt;&lt;width val=&quot;270&quot;/&gt;&lt;height val=&quot;26&quot;/&gt;&lt;hasText val=&quot;1&quot;/&gt;&lt;paraId val=&quot;9&quot;/&gt;&lt;/Image&gt;&lt;Image&gt;&lt;filename val=&quot;C:\Users\Dell\AppData\Local\Temp\CP1156608419281Session\CPTrustFolder1156608419296\PPTImport1156618459906\data\asimages\{C84B10C7-A1A3-45C7-9912-59DD2A542925}_1.png_crop.png&quot;/&gt;&lt;left val=&quot;58&quot;/&gt;&lt;top val=&quot;548&quot;/&gt;&lt;width val=&quot;646&quot;/&gt;&lt;height val=&quot;26&quot;/&gt;&lt;hasText val=&quot;1&quot;/&gt;&lt;paraId val=&quot;10&quot;/&gt;&lt;/Image&gt;&lt;Image&gt;&lt;filename val=&quot;C:\Users\Dell\AppData\Local\Temp\CP1156608419281Session\CPTrustFolder1156608419296\PPTImport1156618459906\data\asimages\{857948DE-408B-4C88-9074-E1750F8DC216}_1.png_crop.png&quot;/&gt;&lt;left val=&quot;58&quot;/&gt;&lt;top val=&quot;587&quot;/&gt;&lt;width val=&quot;545&quot;/&gt;&lt;height val=&quot;26&quot;/&gt;&lt;hasText val=&quot;1&quot;/&gt;&lt;paraId val=&quot;11&quot;/&gt;&lt;/Image&gt;&lt;/TextEffect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96817CEE-D698-44D8-A7D7-00DA56FBD461}&quot;/&gt;&lt;isInvalidForFieldText val=&quot;0&quot;/&gt;&lt;Image&gt;&lt;filename val=&quot;C:\Users\Dell\AppData\Local\Temp\CP1156608419281Session\CPTrustFolder1156608419296\PPTImport1156618459906\data\asimages\{96817CEE-D698-44D8-A7D7-00DA56FBD461}_8.png&quot;/&gt;&lt;left val=&quot;48&quot;/&gt;&lt;top val=&quot;28&quot;/&gt;&lt;width val=&quot;865&quot;/&gt;&lt;height val=&quot;95&quot;/&gt;&lt;hasText val=&quot;1&quot;/&gt;&lt;/Image&gt;&lt;/ThreeDShape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96817CEE-D698-44D8-A7D7-00DA56FBD461}&quot;/&gt;&lt;isInvalidForFieldText val=&quot;0&quot;/&gt;&lt;Image&gt;&lt;filename val=&quot;C:\Users\Dell\AppData\Local\Temp\CP1156608419281Session\CPTrustFolder1156608419296\PPTImport1156618459906\data\asimages\{96817CEE-D698-44D8-A7D7-00DA56FBD461}_8.png&quot;/&gt;&lt;left val=&quot;48&quot;/&gt;&lt;top val=&quot;28&quot;/&gt;&lt;width val=&quot;865&quot;/&gt;&lt;height val=&quot;95&quot;/&gt;&lt;hasText val=&quot;1&quot;/&gt;&lt;/Image&gt;&lt;/ThreeDShape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96817CEE-D698-44D8-A7D7-00DA56FBD461}&quot;/&gt;&lt;isInvalidForFieldText val=&quot;0&quot;/&gt;&lt;Image&gt;&lt;filename val=&quot;C:\Users\Dell\AppData\Local\Temp\CP1156608419281Session\CPTrustFolder1156608419296\PPTImport1156618459906\data\asimages\{96817CEE-D698-44D8-A7D7-00DA56FBD461}_8.png&quot;/&gt;&lt;left val=&quot;48&quot;/&gt;&lt;top val=&quot;28&quot;/&gt;&lt;width val=&quot;865&quot;/&gt;&lt;height val=&quot;95&quot;/&gt;&lt;hasText val=&quot;1&quot;/&gt;&lt;/Image&gt;&lt;/ThreeDShape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96817CEE-D698-44D8-A7D7-00DA56FBD461}&quot;/&gt;&lt;isInvalidForFieldText val=&quot;0&quot;/&gt;&lt;Image&gt;&lt;filename val=&quot;C:\Users\Dell\AppData\Local\Temp\CP1156608419281Session\CPTrustFolder1156608419296\PPTImport1156618459906\data\asimages\{96817CEE-D698-44D8-A7D7-00DA56FBD461}_8.png&quot;/&gt;&lt;left val=&quot;48&quot;/&gt;&lt;top val=&quot;28&quot;/&gt;&lt;width val=&quot;865&quot;/&gt;&lt;height val=&quot;95&quot;/&gt;&lt;hasText val=&quot;1&quot;/&gt;&lt;/Image&gt;&lt;/ThreeDShape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96817CEE-D698-44D8-A7D7-00DA56FBD461}&quot;/&gt;&lt;isInvalidForFieldText val=&quot;0&quot;/&gt;&lt;Image&gt;&lt;filename val=&quot;C:\Users\Dell\AppData\Local\Temp\CP1156608419281Session\CPTrustFolder1156608419296\PPTImport1156618459906\data\asimages\{96817CEE-D698-44D8-A7D7-00DA56FBD461}_8.png&quot;/&gt;&lt;left val=&quot;48&quot;/&gt;&lt;top val=&quot;28&quot;/&gt;&lt;width val=&quot;865&quot;/&gt;&lt;height val=&quot;95&quot;/&gt;&lt;hasText val=&quot;1&quot;/&gt;&lt;/Image&gt;&lt;/ThreeDShape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DUMMYTAG" val="&lt;DummyForForceWrite&gt;&lt;/DummyForForceWrite&gt;"/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6DB62BF1-FE9A-4A5E-B50F-B5018FD65EB7}&quot;/&gt;&lt;isInvalidForFieldText val=&quot;0&quot;/&gt;&lt;Image&gt;&lt;filename val=&quot;C:\Users\Dell\AppData\Local\Temp\CP1156608419281Session\CPTrustFolder1156608419296\PPTImport1156618459906\data\asimages\{6DB62BF1-FE9A-4A5E-B50F-B5018FD65EB7}_23.png&quot;/&gt;&lt;left val=&quot;72&quot;/&gt;&lt;top val=&quot;224&quot;/&gt;&lt;width val=&quot;817&quot;/&gt;&lt;height val=&quot;155&quot;/&gt;&lt;hasText val=&quot;1&quot;/&gt;&lt;/Image&gt;&lt;/ThreeDShape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DUMMYTAG" val="&lt;DummyForForceWrite&gt;&lt;/DummyForForceWrite&gt;"/>
  <p:tag name="PRESENTER_SHAPETEXTINFO" val="&lt;ShapeTextInfo&gt;&lt;TableIndex row=&quot;-1&quot; col=&quot;-1&quot;&gt;&lt;linesCount val=&quot;0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DUMMYTAG" val="&lt;DummyForForceWrite&gt;&lt;/DummyForForceWrite&gt;"/>
  <p:tag name="PRESENTER_SHAPETEXTINFO" val="&lt;ShapeTextInfo&gt;&lt;TableIndex row=&quot;-1&quot; col=&quot;-1&quot;&gt;&lt;linesCount val=&quot;0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DUMMYTAG" val="&lt;DummyForForceWrite&gt;&lt;/DummyForForceWrite&gt;"/>
  <p:tag name="PRESENTER_SHAPETEXTINFO" val="&lt;ShapeTextInfo&gt;&lt;TableIndex row=&quot;-1&quot; col=&quot;-1&quot;&gt;&lt;linesCount val=&quot;0&quot;/&gt;&lt;/TableIndex&gt;&lt;/ShapeTextInfo&gt;"/>
</p:tagLst>
</file>

<file path=ppt/theme/theme1.xml><?xml version="1.0" encoding="utf-8"?>
<a:theme xmlns:a="http://schemas.openxmlformats.org/drawingml/2006/main" name="Office Theme">
  <a:themeElements>
    <a:clrScheme name="AA">
      <a:dk1>
        <a:sysClr val="windowText" lastClr="000000"/>
      </a:dk1>
      <a:lt1>
        <a:sysClr val="window" lastClr="FFFFFF"/>
      </a:lt1>
      <a:dk2>
        <a:srgbClr val="663300"/>
      </a:dk2>
      <a:lt2>
        <a:srgbClr val="EEECE1"/>
      </a:lt2>
      <a:accent1>
        <a:srgbClr val="3891A7"/>
      </a:accent1>
      <a:accent2>
        <a:srgbClr val="FEB80A"/>
      </a:accent2>
      <a:accent3>
        <a:srgbClr val="C32D2E"/>
      </a:accent3>
      <a:accent4>
        <a:srgbClr val="92D050"/>
      </a:accent4>
      <a:accent5>
        <a:srgbClr val="663300"/>
      </a:accent5>
      <a:accent6>
        <a:srgbClr val="475A8D"/>
      </a:accent6>
      <a:hlink>
        <a:srgbClr val="0000FF"/>
      </a:hlink>
      <a:folHlink>
        <a:srgbClr val="800080"/>
      </a:folHlink>
    </a:clrScheme>
    <a:fontScheme name="AA Trial 1">
      <a:majorFont>
        <a:latin typeface="Ebrima"/>
        <a:ea typeface=""/>
        <a:cs typeface="Arial"/>
      </a:majorFont>
      <a:minorFont>
        <a:latin typeface="Ebri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iseño predeterminado">
  <a:themeElements>
    <a:clrScheme name="AA">
      <a:dk1>
        <a:sysClr val="windowText" lastClr="000000"/>
      </a:dk1>
      <a:lt1>
        <a:sysClr val="window" lastClr="FFFFFF"/>
      </a:lt1>
      <a:dk2>
        <a:srgbClr val="663300"/>
      </a:dk2>
      <a:lt2>
        <a:srgbClr val="EEECE1"/>
      </a:lt2>
      <a:accent1>
        <a:srgbClr val="3891A7"/>
      </a:accent1>
      <a:accent2>
        <a:srgbClr val="FEB80A"/>
      </a:accent2>
      <a:accent3>
        <a:srgbClr val="C32D2E"/>
      </a:accent3>
      <a:accent4>
        <a:srgbClr val="92D050"/>
      </a:accent4>
      <a:accent5>
        <a:srgbClr val="663300"/>
      </a:accent5>
      <a:accent6>
        <a:srgbClr val="475A8D"/>
      </a:accent6>
      <a:hlink>
        <a:srgbClr val="0000FF"/>
      </a:hlink>
      <a:folHlink>
        <a:srgbClr val="800080"/>
      </a:folHlink>
    </a:clrScheme>
    <a:fontScheme name="AA Trial 1">
      <a:majorFont>
        <a:latin typeface="Ebrima"/>
        <a:ea typeface=""/>
        <a:cs typeface="Arial"/>
      </a:majorFont>
      <a:minorFont>
        <a:latin typeface="Ebri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16810</TotalTime>
  <Words>597</Words>
  <Application>Microsoft Macintosh PowerPoint</Application>
  <PresentationFormat>On-screen Show (4:3)</PresentationFormat>
  <Paragraphs>154</Paragraphs>
  <Slides>10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Century Gothic</vt:lpstr>
      <vt:lpstr>Ebrima</vt:lpstr>
      <vt:lpstr>Eras Demi ITC</vt:lpstr>
      <vt:lpstr>Wingdings</vt:lpstr>
      <vt:lpstr>Office Theme</vt:lpstr>
      <vt:lpstr>1_Diseño predeterminado</vt:lpstr>
      <vt:lpstr>Worksheet</vt:lpstr>
      <vt:lpstr>PowerPoint Presentation</vt:lpstr>
      <vt:lpstr>PowerPoint Presentation</vt:lpstr>
      <vt:lpstr>PowerPoint Presentation</vt:lpstr>
      <vt:lpstr>PowerPoint Presentation</vt:lpstr>
      <vt:lpstr>Data : NSEI</vt:lpstr>
      <vt:lpstr>Data : DJI</vt:lpstr>
      <vt:lpstr>Data : HSI</vt:lpstr>
      <vt:lpstr>Data : GDAXI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</dc:title>
  <dc:creator>Dell</dc:creator>
  <cp:lastModifiedBy>Vinayak Deshpande</cp:lastModifiedBy>
  <cp:revision>591</cp:revision>
  <dcterms:created xsi:type="dcterms:W3CDTF">2006-08-16T00:00:00Z</dcterms:created>
  <dcterms:modified xsi:type="dcterms:W3CDTF">2024-07-05T07:22:05Z</dcterms:modified>
</cp:coreProperties>
</file>