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Nifty 50 index Analysis using</a:t>
            </a:r>
          </a:p>
          <a:p>
            <a:r>
              <a:t> Data Science &amp; Data Analytics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Data Science Institute &amp; Postgraduate Diplone in Data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Group Members:</a:t>
            </a:r>
          </a:p>
          <a:p>
            <a:r>
              <a:t> Barry, Eoin, Finn, Ismael, Oksana, Pablo, Werner, Zuzana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November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 Analysis Challenge</a:t>
            </a:r>
          </a:p>
          <a:p>
            <a:pPr lvl="1"/>
            <a:r>
              <a:t>Global financial markets are interconnected and influence each other</a:t>
            </a:r>
          </a:p>
          <a:p>
            <a:pPr lvl="1"/>
            <a:r>
              <a:t>Nifty 50 (India) and Dow Jones (US) are major indices representing significant economies</a:t>
            </a:r>
          </a:p>
          <a:p>
            <a:pPr lvl="1"/>
            <a:r>
              <a:t>Understanding cross-market relationships can help predict market movements</a:t>
            </a:r>
          </a:p>
          <a:p>
            <a:pPr lvl="1"/>
            <a:r>
              <a:t>Machine learning offers sophisticated tools for pattern recognition in financial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Practical Applications</a:t>
            </a:r>
          </a:p>
          <a:p>
            <a:pPr lvl="1"/>
            <a:r>
              <a:t>Investor Decision Making: Better informed trading strategies</a:t>
            </a:r>
          </a:p>
          <a:p>
            <a:pPr lvl="1"/>
            <a:r>
              <a:t>Risk Management: Anticipate market volatility and downturns</a:t>
            </a:r>
          </a:p>
          <a:p>
            <a:pPr lvl="1"/>
            <a:r>
              <a:t>Portfolio Optimization: Leverage cross-market correlations</a:t>
            </a:r>
          </a:p>
          <a:p>
            <a:pPr lvl="1"/>
            <a:r>
              <a:t>Academic Research: Contribute to understanding of global market dynamics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Yahoo Finance API</a:t>
            </a:r>
          </a:p>
          <a:p>
            <a:pPr lvl="1"/>
            <a:r>
              <a:t>Daily market data from January 2019 to April 2025</a:t>
            </a:r>
          </a:p>
          <a:p>
            <a:pPr lvl="1"/>
            <a:r>
              <a:t>Six major global indices: Nifty 50, Dow Jones, Nasdaq, Hang Seng, Nikkei 225, DAX</a:t>
            </a:r>
          </a:p>
          <a:p>
            <a:pPr lvl="1"/>
            <a:r>
              <a:t>VIX (Volatility Index) as market sentiment indicator</a:t>
            </a:r>
          </a:p>
          <a:p>
            <a:pPr lvl="1"/>
            <a:r>
              <a:t>Twitter/X data for sentiment analysis (Nifty 50 generated posts, thanks Werner!)</a:t>
            </a:r>
          </a:p>
          <a:p>
            <a:pPr lvl="1"/>
            <a:r>
              <a:t>Features: Open, Close prices, Returns, Year, Quarter, Month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Characteristics</a:t>
            </a:r>
          </a:p>
          <a:p>
            <a:pPr lvl="1"/>
            <a:r>
              <a:t>Time Period: 6+ years of daily trading data</a:t>
            </a:r>
          </a:p>
          <a:p>
            <a:pPr lvl="1"/>
            <a:r>
              <a:t>Total Records: ~1,500 trading days (after cleaning)</a:t>
            </a:r>
          </a:p>
          <a:p>
            <a:pPr lvl="1"/>
            <a:r>
              <a:t>Variables: 20+ features including returns and temporal indicators</a:t>
            </a:r>
          </a:p>
          <a:p>
            <a:pPr lvl="1"/>
            <a:r>
              <a:t>Data Quality: Missing values handled via linear interpolation</a:t>
            </a:r>
          </a:p>
          <a:p>
            <a:pPr lvl="1"/>
            <a:r>
              <a:t>Target Variable: Nifty_Dir_Open (Binary: Up=1, Down=0)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 Goals</a:t>
            </a:r>
          </a:p>
          <a:p>
            <a:pPr lvl="1"/>
            <a:r>
              <a:t>Perform EDA on the data</a:t>
            </a:r>
          </a:p>
          <a:p>
            <a:pPr lvl="1"/>
            <a:r>
              <a:t>Compare performance of multiple ML algorithms (Logistic Regression, Naive Bayes, Decision Tree, Random Forest)</a:t>
            </a:r>
          </a:p>
          <a:p>
            <a:pPr lvl="1"/>
            <a:r>
              <a:t>Analyze correlations between global markets and Nifty 50 movements</a:t>
            </a:r>
          </a:p>
          <a:p>
            <a:pPr lvl="1"/>
            <a:r>
              <a:t>Incorporate sentiment analysis from social media to enhance predictions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Measuring Success</a:t>
            </a:r>
          </a:p>
          <a:p>
            <a:pPr lvl="1"/>
            <a:r>
              <a:t>Model Accuracy: Achieve &gt;60% prediction accuracy on test data</a:t>
            </a:r>
          </a:p>
          <a:p>
            <a:pPr lvl="1"/>
            <a:r>
              <a:t>AUC Score: Target AUC &gt; 0.65 for ROC curves</a:t>
            </a:r>
          </a:p>
          <a:p>
            <a:pPr lvl="1"/>
            <a:r>
              <a:t>Balanced Performance: Maintain similar metrics between train and test datasets</a:t>
            </a:r>
          </a:p>
          <a:p>
            <a:pPr lvl="1"/>
            <a:r>
              <a:t>Feature Importance: Identify key predictive variables</a:t>
            </a:r>
          </a:p>
          <a:p>
            <a:pPr lvl="1"/>
            <a:r>
              <a:t>Practical Insights: Generate actionable trading signals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Plan - Phase 1 &amp;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Data Collection &amp; Preprocessing</a:t>
            </a:r>
          </a:p>
          <a:p>
            <a:pPr lvl="1"/>
            <a:r>
              <a:t>Data extraction from Yahoo Finance API</a:t>
            </a:r>
          </a:p>
          <a:p>
            <a:pPr lvl="1"/>
            <a:r>
              <a:t>Handle missing values and outliers</a:t>
            </a:r>
          </a:p>
          <a:p>
            <a:pPr lvl="1"/>
            <a:r>
              <a:t>Calculate daily returns for all indices</a:t>
            </a:r>
          </a:p>
          <a:p>
            <a:pPr/>
            <a:r>
              <a:t>Phase 2: Exploratory Data Analysis</a:t>
            </a:r>
          </a:p>
          <a:p>
            <a:pPr lvl="1"/>
            <a:r>
              <a:t>Correlation analysis between markets</a:t>
            </a:r>
          </a:p>
          <a:p>
            <a:pPr lvl="1"/>
            <a:r>
              <a:t>Time series visualization and trend analysis</a:t>
            </a:r>
          </a:p>
          <a:p>
            <a:pPr lvl="1"/>
            <a:r>
              <a:t>Statistical tests (normality, stationarity)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Plan - Phase 3 &amp;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3: Predictive Modeling (Logistic Regression)</a:t>
            </a:r>
          </a:p>
          <a:p>
            <a:pPr lvl="1"/>
            <a:r>
              <a:t>Train/test split (80/20)</a:t>
            </a:r>
          </a:p>
          <a:p>
            <a:pPr lvl="1"/>
            <a:r>
              <a:t>VIF analysis for multicollinearity</a:t>
            </a:r>
          </a:p>
          <a:p>
            <a:pPr lvl="1"/>
            <a:r>
              <a:t>ROC curve and optimal threshold determination</a:t>
            </a:r>
          </a:p>
          <a:p>
            <a:pPr/>
            <a:r>
              <a:t>Phase 4: Advanced ML Models</a:t>
            </a:r>
          </a:p>
          <a:p>
            <a:pPr lvl="1"/>
            <a:r>
              <a:t>Naive Bayes Classifier</a:t>
            </a:r>
          </a:p>
          <a:p>
            <a:pPr lvl="1"/>
            <a:r>
              <a:t>Decision Tree with depth optimization</a:t>
            </a:r>
          </a:p>
          <a:p>
            <a:pPr lvl="1"/>
            <a:r>
              <a:t>Random Forest ensemble method</a:t>
            </a:r>
          </a:p>
          <a:p>
            <a:pPr/>
            <a:r>
              <a:t>Model Comparison &amp; Final Recommendations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Plan - Phase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5: Text Mining &amp; Sentiment Analysis</a:t>
            </a:r>
          </a:p>
          <a:p>
            <a:pPr lvl="1"/>
            <a:r>
              <a:t>Text preprocessing (cleaning, tokenization, stopword removal)</a:t>
            </a:r>
          </a:p>
          <a:p>
            <a:pPr lvl="1"/>
            <a:r>
              <a:t>Word cloud generation for topic identification</a:t>
            </a:r>
          </a:p>
          <a:p>
            <a:pPr lvl="1"/>
            <a:r>
              <a:t>VADER sentiment analysis on Twitter/X data</a:t>
            </a:r>
          </a:p>
          <a:p>
            <a:pPr lvl="1"/>
            <a:r>
              <a:t>Sentiment scoring (Positive, Negative, Neutral)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Encountered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Challenges</a:t>
            </a:r>
          </a:p>
          <a:p>
            <a:pPr lvl="1"/>
            <a:r>
              <a:t>Different trading hours and holidays across global markets</a:t>
            </a:r>
          </a:p>
          <a:p>
            <a:pPr lvl="1"/>
            <a:r>
              <a:t>Missing data requiring interpolation strategies</a:t>
            </a:r>
          </a:p>
          <a:p>
            <a:pPr/>
            <a:r>
              <a:t>Modeling Challenges</a:t>
            </a:r>
          </a:p>
          <a:p>
            <a:pPr lvl="1"/>
            <a:r>
              <a:t>Low predictive power (AUC ~0.53-0.59) indicates market complexity</a:t>
            </a:r>
          </a:p>
          <a:p>
            <a:pPr/>
            <a:r>
              <a:t>Technical Challenges</a:t>
            </a:r>
          </a:p>
          <a:p>
            <a:pPr lvl="1"/>
            <a:r>
              <a:t>Integration of multiple data sources and formats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 1-2: Data Collection &amp; Preprocessing</a:t>
            </a:r>
          </a:p>
          <a:p>
            <a:pPr lvl="1"/>
            <a:r>
              <a:t>Set up data pipeline, clean and prepare datasets</a:t>
            </a:r>
          </a:p>
          <a:p>
            <a:pPr/>
            <a:r>
              <a:t>Week 3-4: Exploratory Data Analysis</a:t>
            </a:r>
          </a:p>
          <a:p>
            <a:pPr lvl="1"/>
            <a:r>
              <a:t>Statistical analysis, visualization, correlation studies</a:t>
            </a:r>
          </a:p>
          <a:p>
            <a:pPr/>
            <a:r>
              <a:t>Week 5-6: Model Development</a:t>
            </a:r>
          </a:p>
          <a:p>
            <a:pPr lvl="1"/>
            <a:r>
              <a:t>Build and train ML models, optimize parameters</a:t>
            </a:r>
          </a:p>
          <a:p>
            <a:pPr/>
            <a:r>
              <a:t>Week 7-8: Sentiment Analysis &amp; Integration</a:t>
            </a:r>
          </a:p>
          <a:p>
            <a:pPr lvl="1"/>
            <a:r>
              <a:t>NLP processing, combine with market models</a:t>
            </a:r>
          </a:p>
          <a:p>
            <a:pPr/>
            <a:r>
              <a:t>Week 9-10: Finalization &amp; Presentation</a:t>
            </a:r>
          </a:p>
          <a:p>
            <a:pPr lvl="1"/>
            <a:r>
              <a:t>Results analysis, documentation, presentation preparation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