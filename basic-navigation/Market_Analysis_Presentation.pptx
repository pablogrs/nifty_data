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_rels/slide4.xml.rels" ContentType="application/vnd.openxmlformats-package.relationships+xml"/>
  <Override PartName="/ppt/slides/_rels/slide20.xml.rels" ContentType="application/vnd.openxmlformats-package.relationships+xml"/>
  <Override PartName="/ppt/slides/_rels/slide18.xml.rels" ContentType="application/vnd.openxmlformats-package.relationships+xml"/>
  <Override PartName="/ppt/slides/_rels/slide3.xml.rels" ContentType="application/vnd.openxmlformats-package.relationships+xml"/>
  <Override PartName="/ppt/slides/_rels/slide17.xml.rels" ContentType="application/vnd.openxmlformats-package.relationships+xml"/>
  <Override PartName="/ppt/slides/_rels/slide2.xml.rels" ContentType="application/vnd.openxmlformats-package.relationships+xml"/>
  <Override PartName="/ppt/slides/_rels/slide14.xml.rels" ContentType="application/vnd.openxmlformats-package.relationships+xml"/>
  <Override PartName="/ppt/slides/_rels/slide26.xml.rels" ContentType="application/vnd.openxmlformats-package.relationships+xml"/>
  <Override PartName="/ppt/slides/_rels/slide15.xml.rels" ContentType="application/vnd.openxmlformats-package.relationships+xml"/>
  <Override PartName="/ppt/slides/_rels/slide27.xml.rels" ContentType="application/vnd.openxmlformats-package.relationships+xml"/>
  <Override PartName="/ppt/slides/_rels/slide16.xml.rels" ContentType="application/vnd.openxmlformats-package.relationships+xml"/>
  <Override PartName="/ppt/slides/_rels/slide1.xml.rels" ContentType="application/vnd.openxmlformats-package.relationships+xml"/>
  <Override PartName="/ppt/slides/_rels/slide28.xml.rels" ContentType="application/vnd.openxmlformats-package.relationships+xml"/>
  <Override PartName="/ppt/slides/_rels/slide21.xml.rels" ContentType="application/vnd.openxmlformats-package.relationships+xml"/>
  <Override PartName="/ppt/slides/_rels/slide19.xml.rels" ContentType="application/vnd.openxmlformats-package.relationships+xml"/>
  <Override PartName="/ppt/slides/_rels/slide13.xml.rels" ContentType="application/vnd.openxmlformats-package.relationships+xml"/>
  <Override PartName="/ppt/slides/_rels/slide25.xml.rels" ContentType="application/vnd.openxmlformats-package.relationships+xml"/>
  <Override PartName="/ppt/slides/_rels/slide12.xml.rels" ContentType="application/vnd.openxmlformats-package.relationships+xml"/>
  <Override PartName="/ppt/slides/_rels/slide24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23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22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25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24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23.xml" ContentType="application/vnd.openxmlformats-officedocument.presentationml.slide+xml"/>
  <Override PartName="/ppt/slides/slide6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1.xml" ContentType="application/vnd.openxmlformats-officedocument.presentationml.slide+xml"/>
  <Override PartName="/ppt/slides/slide28.xml" ContentType="application/vnd.openxmlformats-officedocument.presentationml.slide+xml"/>
  <Override PartName="/ppt/slides/slide27.xml" ContentType="application/vnd.openxmlformats-officedocument.presentationml.slide+xml"/>
  <Override PartName="/ppt/slides/slide26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4.xml" ContentType="application/vnd.openxmlformats-officedocument.presentationml.slid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10.png" ContentType="image/png"/>
  <Override PartName="/ppt/media/image7.png" ContentType="image/png"/>
  <Override PartName="/ppt/media/image11.png" ContentType="image/png"/>
  <Override PartName="/ppt/media/image8.png" ContentType="image/png"/>
  <Override PartName="/ppt/media/image12.png" ContentType="image/png"/>
  <Override PartName="/ppt/media/image9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  <p:sldId id="266" r:id="rId23"/>
    <p:sldId id="267" r:id="rId24"/>
    <p:sldId id="268" r:id="rId25"/>
    <p:sldId id="269" r:id="rId26"/>
    <p:sldId id="270" r:id="rId27"/>
    <p:sldId id="271" r:id="rId28"/>
    <p:sldId id="272" r:id="rId29"/>
    <p:sldId id="273" r:id="rId30"/>
    <p:sldId id="274" r:id="rId31"/>
    <p:sldId id="275" r:id="rId32"/>
    <p:sldId id="276" r:id="rId33"/>
    <p:sldId id="277" r:id="rId34"/>
    <p:sldId id="278" r:id="rId35"/>
    <p:sldId id="279" r:id="rId36"/>
    <p:sldId id="280" r:id="rId37"/>
    <p:sldId id="281" r:id="rId38"/>
    <p:sldId id="282" r:id="rId39"/>
    <p:sldId id="283" r:id="rId40"/>
  </p:sldIdLst>
  <p:sldSz cx="9144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0.xml"/><Relationship Id="rId33" Type="http://schemas.openxmlformats.org/officeDocument/2006/relationships/slide" Target="slides/slide21.xml"/><Relationship Id="rId34" Type="http://schemas.openxmlformats.org/officeDocument/2006/relationships/slide" Target="slides/slide22.xml"/><Relationship Id="rId35" Type="http://schemas.openxmlformats.org/officeDocument/2006/relationships/slide" Target="slides/slide23.xml"/><Relationship Id="rId36" Type="http://schemas.openxmlformats.org/officeDocument/2006/relationships/slide" Target="slides/slide24.xml"/><Relationship Id="rId37" Type="http://schemas.openxmlformats.org/officeDocument/2006/relationships/slide" Target="slides/slide25.xml"/><Relationship Id="rId38" Type="http://schemas.openxmlformats.org/officeDocument/2006/relationships/slide" Target="slides/slide26.xml"/><Relationship Id="rId39" Type="http://schemas.openxmlformats.org/officeDocument/2006/relationships/slide" Target="slides/slide27.xml"/><Relationship Id="rId40" Type="http://schemas.openxmlformats.org/officeDocument/2006/relationships/slide" Target="slides/slide28.xml"/><Relationship Id="rId41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5C22BC4F-24BF-4350-8E04-7136F81F043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37B1DA65-404A-4676-9DC2-4253194AC68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213430B1-19DE-437C-B411-E6A13327517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6C7B0028-3F14-4B39-B645-BD186CA9B51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903AF947-490B-4735-857F-9101757EF90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4015800" cy="4525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/>
          </p:nvPr>
        </p:nvSpPr>
        <p:spPr>
          <a:xfrm>
            <a:off x="4674240" y="1600200"/>
            <a:ext cx="4015800" cy="4525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8043C56C-B437-4C11-AC10-D58B8C56907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9EE21AC9-CB73-4CDE-A5F6-995306876F3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4"/>
          </p:nvPr>
        </p:nvSpPr>
        <p:spPr/>
        <p:txBody>
          <a:bodyPr/>
          <a:p>
            <a:fld id="{0F9DC521-AE64-4FD7-AD00-30B311D2F4C3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2F6DF7AC-ED58-4212-9BA0-3D0C4AE918C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33069D0A-57CB-4DBC-B28E-F4AAC0CD58C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3"/>
          </p:nvPr>
        </p:nvSpPr>
        <p:spPr/>
        <p:txBody>
          <a:bodyPr/>
          <a:p>
            <a:fld id="{9F5E06A3-AE26-4C76-829D-CE76BE8785D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Master title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BECF0A5-41EF-44E6-B748-CB00F410DFAE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AD30A2C-2F5E-40CF-A646-F60A7463F551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BA8D1EB-04C3-43AA-9244-85AA0240D701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DCDC720-84D7-4E3F-9793-46F249554E9A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Click to edit Master text styles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4F7B795-6F0C-4F1E-B04D-BCCE651FA092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7F90D62-3055-4298-9752-DA34D1B73048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F3C3E9C-84BC-43E9-8418-860DC5267AEB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E599272-1670-4E69-826E-633AE7897F46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A6D9E53-CCDC-40A0-95B7-A066CC0E48A1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388B752-4317-4028-B106-087A7AC71FFE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0522839-28E4-4038-881E-427EF6A890D9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8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8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8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8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8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8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8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8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8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8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1" lang="en-US" sz="4000" spc="-1" strike="noStrike">
                <a:solidFill>
                  <a:srgbClr val="003366"/>
                </a:solidFill>
                <a:latin typeface="Calibri"/>
              </a:rPr>
              <a:t>Market Analysis Dashboard</a:t>
            </a:r>
            <a:endParaRPr b="0" lang="en-US" sz="4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 type="subTitle"/>
          </p:nvPr>
        </p:nvSpPr>
        <p:spPr>
          <a:xfrm>
            <a:off x="1371600" y="3886200"/>
            <a:ext cx="6400440" cy="1752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algn="ctr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0" lang="en-US" sz="2400" spc="-1" strike="noStrike">
                <a:solidFill>
                  <a:srgbClr val="4472c4"/>
                </a:solidFill>
                <a:latin typeface="Calibri"/>
              </a:rPr>
              <a:t>Nifty50 Predictive Modeling &amp; Sentiment Analysis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3200" spc="-1" strike="noStrike">
                <a:solidFill>
                  <a:srgbClr val="003366"/>
                </a:solidFill>
                <a:latin typeface="Calibri"/>
              </a:rPr>
              <a:t>Agenda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0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641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Phase 1: Data Collection and Preprocessing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Phase 2: Exploratory Data Analysis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Phase 3: Logistic Regression Model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Phase 4: Machine Learning Models Comparison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Phase 5: Text Mining &amp; Sentiment Analysis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Conclusions and Recommendations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1" lang="en-US" sz="4000" spc="-1" strike="noStrike">
                <a:solidFill>
                  <a:srgbClr val="003366"/>
                </a:solidFill>
                <a:latin typeface="Calibri"/>
              </a:rPr>
              <a:t>Phase 1</a:t>
            </a:r>
            <a:endParaRPr b="0" lang="en-US" sz="4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2" name="PlaceHolder 2"/>
          <p:cNvSpPr>
            <a:spLocks noGrp="1"/>
          </p:cNvSpPr>
          <p:nvPr>
            <p:ph type="subTitle"/>
          </p:nvPr>
        </p:nvSpPr>
        <p:spPr>
          <a:xfrm>
            <a:off x="1371600" y="3886200"/>
            <a:ext cx="6400440" cy="1752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algn="ctr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0" lang="en-US" sz="2400" spc="-1" strike="noStrike">
                <a:solidFill>
                  <a:srgbClr val="4472c4"/>
                </a:solidFill>
                <a:latin typeface="Calibri"/>
              </a:rPr>
              <a:t>Data Collection and Preprocessing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3200" spc="-1" strike="noStrike">
                <a:solidFill>
                  <a:srgbClr val="003366"/>
                </a:solidFill>
                <a:latin typeface="Calibri"/>
              </a:rPr>
              <a:t>Dataset Overview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641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6 Major Global Market Indices: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  • </a:t>
            </a: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Nifty 50 (India)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  • </a:t>
            </a: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Dow Jones (USA)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  • </a:t>
            </a: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Nasdaq (USA)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  • </a:t>
            </a: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Hang Seng (Hong Kong)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  • </a:t>
            </a: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Nikkei 225 (Japan)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  • </a:t>
            </a: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DAX (Germany)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VIX Volatility Index included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Time period: January 2019 to April 2025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Missing values handled with linear interpolation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TextBox 2"/>
          <p:cNvSpPr/>
          <p:nvPr/>
        </p:nvSpPr>
        <p:spPr>
          <a:xfrm>
            <a:off x="2185920" y="274320"/>
            <a:ext cx="4771440" cy="57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200" spc="-1" strike="noStrike">
                <a:solidFill>
                  <a:srgbClr val="003366"/>
                </a:solidFill>
                <a:latin typeface="Calibri"/>
              </a:rPr>
              <a:t>Normality Check - QQ Plots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6" name="Picture 3" descr="phase1_qq_plots.png"/>
          <p:cNvPicPr/>
          <p:nvPr/>
        </p:nvPicPr>
        <p:blipFill>
          <a:blip r:embed="rId1"/>
          <a:stretch/>
        </p:blipFill>
        <p:spPr>
          <a:xfrm>
            <a:off x="914400" y="1371600"/>
            <a:ext cx="7314840" cy="4849200"/>
          </a:xfrm>
          <a:prstGeom prst="rect">
            <a:avLst/>
          </a:prstGeom>
          <a:ln w="0">
            <a:noFill/>
          </a:ln>
        </p:spPr>
      </p:pic>
      <p:sp>
        <p:nvSpPr>
          <p:cNvPr id="77" name="TextBox 4"/>
          <p:cNvSpPr/>
          <p:nvPr/>
        </p:nvSpPr>
        <p:spPr>
          <a:xfrm>
            <a:off x="1990080" y="6217920"/>
            <a:ext cx="51631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i="1" lang="en-US" sz="1400" spc="-1" strike="noStrike">
                <a:solidFill>
                  <a:schemeClr val="dk1"/>
                </a:solidFill>
                <a:latin typeface="Calibri"/>
              </a:rPr>
              <a:t>QQ plots show daily returns approximately follow normal distribution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1" lang="en-US" sz="4000" spc="-1" strike="noStrike">
                <a:solidFill>
                  <a:srgbClr val="003366"/>
                </a:solidFill>
                <a:latin typeface="Calibri"/>
              </a:rPr>
              <a:t>Phase 2</a:t>
            </a:r>
            <a:endParaRPr b="0" lang="en-US" sz="4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 type="subTitle"/>
          </p:nvPr>
        </p:nvSpPr>
        <p:spPr>
          <a:xfrm>
            <a:off x="1371600" y="3886200"/>
            <a:ext cx="6400440" cy="1752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algn="ctr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0" lang="en-US" sz="2400" spc="-1" strike="noStrike">
                <a:solidFill>
                  <a:srgbClr val="4472c4"/>
                </a:solidFill>
                <a:latin typeface="Calibri"/>
              </a:rPr>
              <a:t>Exploratory Data Analysis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3200" spc="-1" strike="noStrike">
                <a:solidFill>
                  <a:srgbClr val="003366"/>
                </a:solidFill>
                <a:latin typeface="Calibri"/>
              </a:rPr>
              <a:t>Phase 2 Objectives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1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641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Analyze 5-year performance of global indices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Examine correlations between markets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Study impact of COVID-19 pandemic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Investigate Nifty 50 daily movements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Identify relationships with global markets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>
              <a:buNone/>
            </a:pP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3" name="TextBox 2"/>
          <p:cNvSpPr/>
          <p:nvPr/>
        </p:nvSpPr>
        <p:spPr>
          <a:xfrm>
            <a:off x="1642680" y="274320"/>
            <a:ext cx="5857920" cy="57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200" spc="-1" strike="noStrike">
                <a:solidFill>
                  <a:srgbClr val="003366"/>
                </a:solidFill>
                <a:latin typeface="Calibri"/>
              </a:rPr>
              <a:t>Daily Returns Distribution by Year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4" name="Picture 3" descr="phase2_boxplot.png"/>
          <p:cNvPicPr/>
          <p:nvPr/>
        </p:nvPicPr>
        <p:blipFill>
          <a:blip r:embed="rId1"/>
          <a:stretch/>
        </p:blipFill>
        <p:spPr>
          <a:xfrm>
            <a:off x="914400" y="1371600"/>
            <a:ext cx="7314840" cy="4842360"/>
          </a:xfrm>
          <a:prstGeom prst="rect">
            <a:avLst/>
          </a:prstGeom>
          <a:ln w="0">
            <a:noFill/>
          </a:ln>
        </p:spPr>
      </p:pic>
      <p:sp>
        <p:nvSpPr>
          <p:cNvPr id="85" name="TextBox 4"/>
          <p:cNvSpPr/>
          <p:nvPr/>
        </p:nvSpPr>
        <p:spPr>
          <a:xfrm>
            <a:off x="2416320" y="6217920"/>
            <a:ext cx="43110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i="1" lang="en-US" sz="1400" spc="-1" strike="noStrike">
                <a:solidFill>
                  <a:schemeClr val="dk1"/>
                </a:solidFill>
                <a:latin typeface="Calibri"/>
              </a:rPr>
              <a:t>Box-whisker plots showing volatility patterns across years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>
              <a:buNone/>
            </a:pP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7" name="TextBox 2"/>
          <p:cNvSpPr/>
          <p:nvPr/>
        </p:nvSpPr>
        <p:spPr>
          <a:xfrm>
            <a:off x="2137320" y="274320"/>
            <a:ext cx="4869000" cy="57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200" spc="-1" strike="noStrike">
                <a:solidFill>
                  <a:srgbClr val="003366"/>
                </a:solidFill>
                <a:latin typeface="Calibri"/>
              </a:rPr>
              <a:t>Market Correlation Analysis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8" name="Picture 3" descr="phase2_correlation.png"/>
          <p:cNvPicPr/>
          <p:nvPr/>
        </p:nvPicPr>
        <p:blipFill>
          <a:blip r:embed="rId1"/>
          <a:stretch/>
        </p:blipFill>
        <p:spPr>
          <a:xfrm>
            <a:off x="914400" y="1371600"/>
            <a:ext cx="7314840" cy="3157560"/>
          </a:xfrm>
          <a:prstGeom prst="rect">
            <a:avLst/>
          </a:prstGeom>
          <a:ln w="0">
            <a:noFill/>
          </a:ln>
        </p:spPr>
      </p:pic>
      <p:sp>
        <p:nvSpPr>
          <p:cNvPr id="89" name="TextBox 4"/>
          <p:cNvSpPr/>
          <p:nvPr/>
        </p:nvSpPr>
        <p:spPr>
          <a:xfrm>
            <a:off x="2168640" y="6217920"/>
            <a:ext cx="48063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i="1" lang="en-US" sz="1400" spc="-1" strike="noStrike">
                <a:solidFill>
                  <a:schemeClr val="dk1"/>
                </a:solidFill>
                <a:latin typeface="Calibri"/>
              </a:rPr>
              <a:t>Correlation matrix reveals strong relationships between markets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>
              <a:buNone/>
            </a:pP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91" name="TextBox 2"/>
          <p:cNvSpPr/>
          <p:nvPr/>
        </p:nvSpPr>
        <p:spPr>
          <a:xfrm>
            <a:off x="2302560" y="274320"/>
            <a:ext cx="4538160" cy="57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200" spc="-1" strike="noStrike">
                <a:solidFill>
                  <a:srgbClr val="003366"/>
                </a:solidFill>
                <a:latin typeface="Calibri"/>
              </a:rPr>
              <a:t>COVID-19 Impact Analysis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2" name="Picture 3" descr="phase2_covid.png"/>
          <p:cNvPicPr/>
          <p:nvPr/>
        </p:nvPicPr>
        <p:blipFill>
          <a:blip r:embed="rId1"/>
          <a:stretch/>
        </p:blipFill>
        <p:spPr>
          <a:xfrm>
            <a:off x="914400" y="1371600"/>
            <a:ext cx="7314840" cy="4849200"/>
          </a:xfrm>
          <a:prstGeom prst="rect">
            <a:avLst/>
          </a:prstGeom>
          <a:ln w="0">
            <a:noFill/>
          </a:ln>
        </p:spPr>
      </p:pic>
      <p:sp>
        <p:nvSpPr>
          <p:cNvPr id="93" name="TextBox 4"/>
          <p:cNvSpPr/>
          <p:nvPr/>
        </p:nvSpPr>
        <p:spPr>
          <a:xfrm>
            <a:off x="2984760" y="6217920"/>
            <a:ext cx="31741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i="1" lang="en-US" sz="1400" spc="-1" strike="noStrike">
                <a:solidFill>
                  <a:schemeClr val="dk1"/>
                </a:solidFill>
                <a:latin typeface="Calibri"/>
              </a:rPr>
              <a:t>Market behavior during pandemic phases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TextBox 2"/>
          <p:cNvSpPr/>
          <p:nvPr/>
        </p:nvSpPr>
        <p:spPr>
          <a:xfrm>
            <a:off x="1797480" y="274320"/>
            <a:ext cx="5548680" cy="57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200" spc="-1" strike="noStrike">
                <a:solidFill>
                  <a:srgbClr val="003366"/>
                </a:solidFill>
                <a:latin typeface="Calibri"/>
              </a:rPr>
              <a:t>Global Indices vs Nifty Direction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5" name="Picture 3" descr="phase2_nifty_dir.png"/>
          <p:cNvPicPr/>
          <p:nvPr/>
        </p:nvPicPr>
        <p:blipFill>
          <a:blip r:embed="rId1"/>
          <a:stretch/>
        </p:blipFill>
        <p:spPr>
          <a:xfrm>
            <a:off x="914400" y="1371600"/>
            <a:ext cx="7314840" cy="4370760"/>
          </a:xfrm>
          <a:prstGeom prst="rect">
            <a:avLst/>
          </a:prstGeom>
          <a:ln w="0">
            <a:noFill/>
          </a:ln>
        </p:spPr>
      </p:pic>
      <p:sp>
        <p:nvSpPr>
          <p:cNvPr id="96" name="TextBox 4"/>
          <p:cNvSpPr/>
          <p:nvPr/>
        </p:nvSpPr>
        <p:spPr>
          <a:xfrm>
            <a:off x="2247840" y="6217920"/>
            <a:ext cx="4647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i="1" lang="en-US" sz="1400" spc="-1" strike="noStrike">
                <a:solidFill>
                  <a:schemeClr val="dk1"/>
                </a:solidFill>
                <a:latin typeface="Calibri"/>
              </a:rPr>
              <a:t>Relationship between global markets and Nifty 50 movements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1" lang="en-US" sz="4000" spc="-1" strike="noStrike">
                <a:solidFill>
                  <a:srgbClr val="003366"/>
                </a:solidFill>
                <a:latin typeface="Calibri"/>
              </a:rPr>
              <a:t>Phase 3</a:t>
            </a:r>
            <a:endParaRPr b="0" lang="en-US" sz="4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98" name="PlaceHolder 2"/>
          <p:cNvSpPr>
            <a:spLocks noGrp="1"/>
          </p:cNvSpPr>
          <p:nvPr>
            <p:ph type="subTitle"/>
          </p:nvPr>
        </p:nvSpPr>
        <p:spPr>
          <a:xfrm>
            <a:off x="1371600" y="3886200"/>
            <a:ext cx="6400440" cy="1752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algn="ctr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0" lang="en-US" sz="2400" spc="-1" strike="noStrike">
                <a:solidFill>
                  <a:srgbClr val="4472c4"/>
                </a:solidFill>
                <a:latin typeface="Calibri"/>
              </a:rPr>
              <a:t>Binary Logistic Regression Model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3200" spc="-1" strike="noStrike">
                <a:solidFill>
                  <a:srgbClr val="003366"/>
                </a:solidFill>
                <a:latin typeface="Calibri"/>
              </a:rPr>
              <a:t>Logistic Regression Approach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00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641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Objective: Predict Nifty 50 direction (Up/Down)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Initial Model: All 6 market return variables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VIF Analysis: Check for multicollinearity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Refined Model: 4 significant variables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  • </a:t>
            </a: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HangSeng_Return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  • </a:t>
            </a: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Nikkei_Return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  • </a:t>
            </a: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DAX_Return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  • </a:t>
            </a: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VIX_Return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Optimal threshold: 0.4753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extBox 2"/>
          <p:cNvSpPr/>
          <p:nvPr/>
        </p:nvSpPr>
        <p:spPr>
          <a:xfrm>
            <a:off x="1773000" y="274320"/>
            <a:ext cx="5597280" cy="57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200" spc="-1" strike="noStrike">
                <a:solidFill>
                  <a:srgbClr val="003366"/>
                </a:solidFill>
                <a:latin typeface="Calibri"/>
              </a:rPr>
              <a:t>Logistic Regression - ROC Curves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2" name="Picture 3" descr="phase3_roc.png"/>
          <p:cNvPicPr/>
          <p:nvPr/>
        </p:nvPicPr>
        <p:blipFill>
          <a:blip r:embed="rId1"/>
          <a:stretch/>
        </p:blipFill>
        <p:spPr>
          <a:xfrm>
            <a:off x="914400" y="1371600"/>
            <a:ext cx="7314840" cy="2997000"/>
          </a:xfrm>
          <a:prstGeom prst="rect">
            <a:avLst/>
          </a:prstGeom>
          <a:ln w="0">
            <a:noFill/>
          </a:ln>
        </p:spPr>
      </p:pic>
      <p:sp>
        <p:nvSpPr>
          <p:cNvPr id="103" name="TextBox 4"/>
          <p:cNvSpPr/>
          <p:nvPr/>
        </p:nvSpPr>
        <p:spPr>
          <a:xfrm>
            <a:off x="2711160" y="6217920"/>
            <a:ext cx="37213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i="1" lang="en-US" sz="1400" spc="-1" strike="noStrike">
                <a:solidFill>
                  <a:schemeClr val="dk1"/>
                </a:solidFill>
                <a:latin typeface="Calibri"/>
              </a:rPr>
              <a:t>Model performance on training and test datasets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TextBox 2"/>
          <p:cNvSpPr/>
          <p:nvPr/>
        </p:nvSpPr>
        <p:spPr>
          <a:xfrm>
            <a:off x="1113120" y="274320"/>
            <a:ext cx="6917040" cy="57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200" spc="-1" strike="noStrike">
                <a:solidFill>
                  <a:srgbClr val="003366"/>
                </a:solidFill>
                <a:latin typeface="Calibri"/>
              </a:rPr>
              <a:t>Logistic Regression - Confusion Matrices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5" name="Picture 3" descr="phase3_cm.png"/>
          <p:cNvPicPr/>
          <p:nvPr/>
        </p:nvPicPr>
        <p:blipFill>
          <a:blip r:embed="rId1"/>
          <a:stretch/>
        </p:blipFill>
        <p:spPr>
          <a:xfrm>
            <a:off x="914400" y="1371600"/>
            <a:ext cx="7314840" cy="3071880"/>
          </a:xfrm>
          <a:prstGeom prst="rect">
            <a:avLst/>
          </a:prstGeom>
          <a:ln w="0">
            <a:noFill/>
          </a:ln>
        </p:spPr>
      </p:pic>
      <p:sp>
        <p:nvSpPr>
          <p:cNvPr id="106" name="TextBox 4"/>
          <p:cNvSpPr/>
          <p:nvPr/>
        </p:nvSpPr>
        <p:spPr>
          <a:xfrm>
            <a:off x="2685960" y="6217920"/>
            <a:ext cx="37717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i="1" lang="en-US" sz="1400" spc="-1" strike="noStrike">
                <a:solidFill>
                  <a:schemeClr val="dk1"/>
                </a:solidFill>
                <a:latin typeface="Calibri"/>
              </a:rPr>
              <a:t>Classification performance with optimal threshold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1" lang="en-US" sz="4000" spc="-1" strike="noStrike">
                <a:solidFill>
                  <a:srgbClr val="003366"/>
                </a:solidFill>
                <a:latin typeface="Calibri"/>
              </a:rPr>
              <a:t>Phase 4</a:t>
            </a:r>
            <a:endParaRPr b="0" lang="en-US" sz="4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08" name="PlaceHolder 2"/>
          <p:cNvSpPr>
            <a:spLocks noGrp="1"/>
          </p:cNvSpPr>
          <p:nvPr>
            <p:ph type="subTitle"/>
          </p:nvPr>
        </p:nvSpPr>
        <p:spPr>
          <a:xfrm>
            <a:off x="1371600" y="3886200"/>
            <a:ext cx="6400440" cy="1752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algn="ctr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0" lang="en-US" sz="2400" spc="-1" strike="noStrike">
                <a:solidFill>
                  <a:srgbClr val="4472c4"/>
                </a:solidFill>
                <a:latin typeface="Calibri"/>
              </a:rPr>
              <a:t>Machine Learning Models Comparison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3200" spc="-1" strike="noStrike">
                <a:solidFill>
                  <a:srgbClr val="003366"/>
                </a:solidFill>
                <a:latin typeface="Calibri"/>
              </a:rPr>
              <a:t>Models Evaluated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10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641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1. Gaussian Naive Bayes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   • </a:t>
            </a: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Probabilistic classifier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   • </a:t>
            </a: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Fast training and prediction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indent="0" defTabSz="457200">
              <a:lnSpc>
                <a:spcPct val="100000"/>
              </a:lnSpc>
              <a:spcBef>
                <a:spcPts val="360"/>
              </a:spcBef>
              <a:spcAft>
                <a:spcPts val="1199"/>
              </a:spcAft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2. Decision Tree Classifier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   • </a:t>
            </a: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Rule-based decisions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   • </a:t>
            </a: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Easy to interpret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indent="0" defTabSz="457200">
              <a:lnSpc>
                <a:spcPct val="100000"/>
              </a:lnSpc>
              <a:spcBef>
                <a:spcPts val="360"/>
              </a:spcBef>
              <a:spcAft>
                <a:spcPts val="1199"/>
              </a:spcAft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3. Random Forest Classifier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   • </a:t>
            </a: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Ensemble of decision trees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   • </a:t>
            </a: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Robust and less prone to overfitting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TextBox 2"/>
          <p:cNvSpPr/>
          <p:nvPr/>
        </p:nvSpPr>
        <p:spPr>
          <a:xfrm>
            <a:off x="2339280" y="274320"/>
            <a:ext cx="4465080" cy="57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200" spc="-1" strike="noStrike">
                <a:solidFill>
                  <a:srgbClr val="003366"/>
                </a:solidFill>
                <a:latin typeface="Calibri"/>
              </a:rPr>
              <a:t>Naive Bayes - ROC Curves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2" name="Picture 3" descr="phase4_nb_roc.png"/>
          <p:cNvPicPr/>
          <p:nvPr/>
        </p:nvPicPr>
        <p:blipFill>
          <a:blip r:embed="rId1"/>
          <a:stretch/>
        </p:blipFill>
        <p:spPr>
          <a:xfrm>
            <a:off x="914400" y="1371600"/>
            <a:ext cx="7314840" cy="2997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TextBox 2"/>
          <p:cNvSpPr/>
          <p:nvPr/>
        </p:nvSpPr>
        <p:spPr>
          <a:xfrm>
            <a:off x="2228040" y="274320"/>
            <a:ext cx="4687560" cy="57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200" spc="-1" strike="noStrike">
                <a:solidFill>
                  <a:srgbClr val="003366"/>
                </a:solidFill>
                <a:latin typeface="Calibri"/>
              </a:rPr>
              <a:t>Decision Tree - ROC Curves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4" name="Picture 3" descr="phase4_dt_roc.png"/>
          <p:cNvPicPr/>
          <p:nvPr/>
        </p:nvPicPr>
        <p:blipFill>
          <a:blip r:embed="rId1"/>
          <a:stretch/>
        </p:blipFill>
        <p:spPr>
          <a:xfrm>
            <a:off x="914400" y="1371600"/>
            <a:ext cx="7314840" cy="2997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TextBox 2"/>
          <p:cNvSpPr/>
          <p:nvPr/>
        </p:nvSpPr>
        <p:spPr>
          <a:xfrm>
            <a:off x="2077920" y="274320"/>
            <a:ext cx="4987800" cy="57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200" spc="-1" strike="noStrike">
                <a:solidFill>
                  <a:srgbClr val="003366"/>
                </a:solidFill>
                <a:latin typeface="Calibri"/>
              </a:rPr>
              <a:t>Random Forest - ROC Curves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6" name="Picture 3" descr="phase4_rf_roc.png"/>
          <p:cNvPicPr/>
          <p:nvPr/>
        </p:nvPicPr>
        <p:blipFill>
          <a:blip r:embed="rId1"/>
          <a:stretch/>
        </p:blipFill>
        <p:spPr>
          <a:xfrm>
            <a:off x="914400" y="1371600"/>
            <a:ext cx="7314840" cy="2997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3200" spc="-1" strike="noStrike">
                <a:solidFill>
                  <a:srgbClr val="003366"/>
                </a:solidFill>
                <a:latin typeface="Calibri"/>
              </a:rPr>
              <a:t>Model Comparison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18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641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Model Performance Comparison (AUC Scores):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Gaussian Naive Bayes: Train=0.612, Test=0.540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Decision Tree Classifier: Train=0.698, Test=0.507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Random Forest Classifier: Train=0.664, Test=0.546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1" lang="en-US" sz="4000" spc="-1" strike="noStrike">
                <a:solidFill>
                  <a:srgbClr val="003366"/>
                </a:solidFill>
                <a:latin typeface="Calibri"/>
              </a:rPr>
              <a:t>Phase 5</a:t>
            </a:r>
            <a:endParaRPr b="0" lang="en-US" sz="4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20" name="PlaceHolder 2"/>
          <p:cNvSpPr>
            <a:spLocks noGrp="1"/>
          </p:cNvSpPr>
          <p:nvPr>
            <p:ph type="subTitle"/>
          </p:nvPr>
        </p:nvSpPr>
        <p:spPr>
          <a:xfrm>
            <a:off x="1371600" y="3886200"/>
            <a:ext cx="6400440" cy="1752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algn="ctr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0" lang="en-US" sz="2400" spc="-1" strike="noStrike">
                <a:solidFill>
                  <a:srgbClr val="4472c4"/>
                </a:solidFill>
                <a:latin typeface="Calibri"/>
              </a:rPr>
              <a:t>Text Mining &amp; Sentiment Analysis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3200" spc="-1" strike="noStrike">
                <a:solidFill>
                  <a:srgbClr val="003366"/>
                </a:solidFill>
                <a:latin typeface="Calibri"/>
              </a:rPr>
              <a:t>Text Analysis Approach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22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641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Data Source: Twitter/X posts about Nifty50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Text Preprocessing Pipeline: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  • </a:t>
            </a: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Lowercase conversion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  • </a:t>
            </a: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Remove mentions, hashtags, URLs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  • </a:t>
            </a: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Remove punctuation and digits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  • </a:t>
            </a: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Remove stopwords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  • </a:t>
            </a: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Remove domain-specific words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Analysis Methods: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  • </a:t>
            </a: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Word Cloud for topic identification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  • </a:t>
            </a: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VADER sentiment analysis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TextBox 2"/>
          <p:cNvSpPr/>
          <p:nvPr/>
        </p:nvSpPr>
        <p:spPr>
          <a:xfrm>
            <a:off x="2462760" y="274320"/>
            <a:ext cx="4218120" cy="57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200" spc="-1" strike="noStrike">
                <a:solidFill>
                  <a:srgbClr val="003366"/>
                </a:solidFill>
                <a:latin typeface="Calibri"/>
              </a:rPr>
              <a:t>Word Cloud - Key Topics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24" name="Picture 3" descr="phase5_wordcloud.png"/>
          <p:cNvPicPr/>
          <p:nvPr/>
        </p:nvPicPr>
        <p:blipFill>
          <a:blip r:embed="rId1"/>
          <a:stretch/>
        </p:blipFill>
        <p:spPr>
          <a:xfrm>
            <a:off x="2057400" y="1143000"/>
            <a:ext cx="5029200" cy="5029200"/>
          </a:xfrm>
          <a:prstGeom prst="rect">
            <a:avLst/>
          </a:prstGeom>
          <a:ln w="0">
            <a:noFill/>
          </a:ln>
        </p:spPr>
      </p:pic>
      <p:sp>
        <p:nvSpPr>
          <p:cNvPr id="125" name="TextBox 4"/>
          <p:cNvSpPr/>
          <p:nvPr/>
        </p:nvSpPr>
        <p:spPr>
          <a:xfrm>
            <a:off x="2935800" y="6217920"/>
            <a:ext cx="32716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i="1" lang="en-US" sz="1400" spc="-1" strike="noStrike">
                <a:solidFill>
                  <a:schemeClr val="dk1"/>
                </a:solidFill>
                <a:latin typeface="Calibri"/>
              </a:rPr>
              <a:t>Most frequent words in Nifty50 discussions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TextBox 2"/>
          <p:cNvSpPr/>
          <p:nvPr/>
        </p:nvSpPr>
        <p:spPr>
          <a:xfrm>
            <a:off x="2606040" y="274320"/>
            <a:ext cx="3931560" cy="57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200" spc="-1" strike="noStrike">
                <a:solidFill>
                  <a:srgbClr val="003366"/>
                </a:solidFill>
                <a:latin typeface="Calibri"/>
              </a:rPr>
              <a:t>Sentiment Breakdown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27" name="Picture 3" descr="phase5_sentiment_pie.png"/>
          <p:cNvPicPr/>
          <p:nvPr/>
        </p:nvPicPr>
        <p:blipFill>
          <a:blip r:embed="rId1"/>
          <a:stretch/>
        </p:blipFill>
        <p:spPr>
          <a:xfrm>
            <a:off x="1828800" y="1030320"/>
            <a:ext cx="5029200" cy="5141880"/>
          </a:xfrm>
          <a:prstGeom prst="rect">
            <a:avLst/>
          </a:prstGeom>
          <a:ln w="0">
            <a:noFill/>
          </a:ln>
        </p:spPr>
      </p:pic>
      <p:sp>
        <p:nvSpPr>
          <p:cNvPr id="128" name="TextBox 4"/>
          <p:cNvSpPr/>
          <p:nvPr/>
        </p:nvSpPr>
        <p:spPr>
          <a:xfrm>
            <a:off x="2473200" y="6217920"/>
            <a:ext cx="4196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i="1" lang="en-US" sz="1400" spc="-1" strike="noStrike">
                <a:solidFill>
                  <a:schemeClr val="dk1"/>
                </a:solidFill>
                <a:latin typeface="Calibri"/>
              </a:rPr>
              <a:t>Proportion of positive, negative, and neutral sentiments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1" lang="en-US" sz="4000" spc="-1" strike="noStrike">
                <a:solidFill>
                  <a:srgbClr val="003366"/>
                </a:solidFill>
                <a:latin typeface="Calibri"/>
              </a:rPr>
              <a:t>Conclusions</a:t>
            </a:r>
            <a:endParaRPr b="0" lang="en-US" sz="4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30" name="PlaceHolder 2"/>
          <p:cNvSpPr>
            <a:spLocks noGrp="1"/>
          </p:cNvSpPr>
          <p:nvPr>
            <p:ph type="subTitle"/>
          </p:nvPr>
        </p:nvSpPr>
        <p:spPr>
          <a:xfrm>
            <a:off x="1371600" y="3886200"/>
            <a:ext cx="6400440" cy="1752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algn="ctr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0" lang="en-US" sz="2400" spc="-1" strike="noStrike">
                <a:solidFill>
                  <a:srgbClr val="4472c4"/>
                </a:solidFill>
                <a:latin typeface="Calibri"/>
              </a:rPr>
              <a:t>Key Findings and Recommendations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3200" spc="-1" strike="noStrike">
                <a:solidFill>
                  <a:srgbClr val="003366"/>
                </a:solidFill>
                <a:latin typeface="Calibri"/>
              </a:rPr>
              <a:t>Key Findings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32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641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Global markets show strong correlations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Significant predictors: HangSeng, Nikkei, DAX, VIX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Machine learning models show comparable performance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Random Forest slightly outperforms other models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Sentiment analysis reveals market mood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COVID-19 had significant impact on volatility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3200" spc="-1" strike="noStrike">
                <a:solidFill>
                  <a:srgbClr val="003366"/>
                </a:solidFill>
                <a:latin typeface="Calibri"/>
              </a:rPr>
              <a:t>Recommendations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34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641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Use ensemble of multiple models for predictions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Monitor VIX for volatility signals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Consider sentiment analysis as additional feature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Regular model retraining with new data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Combine technical and sentiment indicators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Account for global market interdependencies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</TotalTime>
  <Application>LibreOffice/24.2.7.2$Linux_X86_64 LibreOffice_project/420$Build-2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2025-11-23T22:01:56Z</dcterms:modified>
  <cp:revision>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