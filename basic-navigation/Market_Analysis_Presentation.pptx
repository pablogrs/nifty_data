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Market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Nifty50 Predictive Modeling &amp; Sentiment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Phase 1: Data Collection and Preprocessing</a:t>
            </a:r>
          </a:p>
          <a:p>
            <a:pPr>
              <a:spcAft>
                <a:spcPts val="1200"/>
              </a:spcAft>
              <a:defRPr sz="1800"/>
            </a:pPr>
            <a:r>
              <a:t>Phase 2: Exploratory Data Analysis</a:t>
            </a:r>
          </a:p>
          <a:p>
            <a:pPr>
              <a:spcAft>
                <a:spcPts val="1200"/>
              </a:spcAft>
              <a:defRPr sz="1800"/>
            </a:pPr>
            <a:r>
              <a:t>Phase 3: Logistic Regression Model</a:t>
            </a:r>
          </a:p>
          <a:p>
            <a:pPr>
              <a:spcAft>
                <a:spcPts val="1200"/>
              </a:spcAft>
              <a:defRPr sz="1800"/>
            </a:pPr>
            <a:r>
              <a:t>Phase 4: Machine Learning Models Comparison</a:t>
            </a:r>
          </a:p>
          <a:p>
            <a:pPr>
              <a:spcAft>
                <a:spcPts val="1200"/>
              </a:spcAft>
              <a:defRPr sz="1800"/>
            </a:pPr>
            <a:r>
              <a:t>Phase 5: Text Mining &amp; Sentiment Analysis</a:t>
            </a:r>
          </a:p>
          <a:p>
            <a:pPr>
              <a:spcAft>
                <a:spcPts val="1200"/>
              </a:spcAft>
              <a:defRPr sz="1800"/>
            </a:pPr>
            <a:r>
              <a:t>Conclusions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Phase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Data Collection and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6 Major Global Market Indices:</a:t>
            </a:r>
          </a:p>
          <a:p>
            <a:pPr>
              <a:spcAft>
                <a:spcPts val="1200"/>
              </a:spcAft>
              <a:defRPr sz="1800"/>
            </a:pPr>
            <a:r>
              <a:t>  • Nifty 50 (India)</a:t>
            </a:r>
          </a:p>
          <a:p>
            <a:pPr>
              <a:spcAft>
                <a:spcPts val="1200"/>
              </a:spcAft>
              <a:defRPr sz="1800"/>
            </a:pPr>
            <a:r>
              <a:t>  • Dow Jones (USA)</a:t>
            </a:r>
          </a:p>
          <a:p>
            <a:pPr>
              <a:spcAft>
                <a:spcPts val="1200"/>
              </a:spcAft>
              <a:defRPr sz="1800"/>
            </a:pPr>
            <a:r>
              <a:t>  • Nasdaq (USA)</a:t>
            </a:r>
          </a:p>
          <a:p>
            <a:pPr>
              <a:spcAft>
                <a:spcPts val="1200"/>
              </a:spcAft>
              <a:defRPr sz="1800"/>
            </a:pPr>
            <a:r>
              <a:t>  • Hang Seng (Hong Kong)</a:t>
            </a:r>
          </a:p>
          <a:p>
            <a:pPr>
              <a:spcAft>
                <a:spcPts val="1200"/>
              </a:spcAft>
              <a:defRPr sz="1800"/>
            </a:pPr>
            <a:r>
              <a:t>  • Nikkei 225 (Japan)</a:t>
            </a:r>
          </a:p>
          <a:p>
            <a:pPr>
              <a:spcAft>
                <a:spcPts val="1200"/>
              </a:spcAft>
              <a:defRPr sz="1800"/>
            </a:pPr>
            <a:r>
              <a:t>  • DAX (Germany)</a:t>
            </a:r>
          </a:p>
          <a:p>
            <a:pPr>
              <a:spcAft>
                <a:spcPts val="1200"/>
              </a:spcAft>
              <a:defRPr sz="1800"/>
            </a:pPr>
            <a:r>
              <a:t>VIX Volatility Index included</a:t>
            </a:r>
          </a:p>
          <a:p>
            <a:pPr>
              <a:spcAft>
                <a:spcPts val="1200"/>
              </a:spcAft>
              <a:defRPr sz="1800"/>
            </a:pPr>
            <a:r>
              <a:t>Time period: January 2019 to April 2025</a:t>
            </a:r>
          </a:p>
          <a:p>
            <a:pPr>
              <a:spcAft>
                <a:spcPts val="1200"/>
              </a:spcAft>
              <a:defRPr sz="1800"/>
            </a:pPr>
            <a:r>
              <a:t>Missing values handled with linear interpolation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Normality Check - QQ Plots</a:t>
            </a:r>
          </a:p>
        </p:txBody>
      </p:sp>
      <p:pic>
        <p:nvPicPr>
          <p:cNvPr id="4" name="Picture 3" descr="phase1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495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QQ plots show daily returns approximately follow normal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Phase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Phase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Analyze 5-year performance of global indices</a:t>
            </a:r>
          </a:p>
          <a:p>
            <a:pPr>
              <a:spcAft>
                <a:spcPts val="1200"/>
              </a:spcAft>
              <a:defRPr sz="1800"/>
            </a:pPr>
            <a:r>
              <a:t>Examine correlations between markets</a:t>
            </a:r>
          </a:p>
          <a:p>
            <a:pPr>
              <a:spcAft>
                <a:spcPts val="1200"/>
              </a:spcAft>
              <a:defRPr sz="1800"/>
            </a:pPr>
            <a:r>
              <a:t>Study impact of COVID-19 pandemic</a:t>
            </a:r>
          </a:p>
          <a:p>
            <a:pPr>
              <a:spcAft>
                <a:spcPts val="1200"/>
              </a:spcAft>
              <a:defRPr sz="1800"/>
            </a:pPr>
            <a:r>
              <a:t>Investigate Nifty 50 daily movements</a:t>
            </a:r>
          </a:p>
          <a:p>
            <a:pPr>
              <a:spcAft>
                <a:spcPts val="1200"/>
              </a:spcAft>
              <a:defRPr sz="1800"/>
            </a:pPr>
            <a:r>
              <a:t>Identify relationships with global markets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Daily Returns Distribution by Year</a:t>
            </a:r>
          </a:p>
        </p:txBody>
      </p:sp>
      <p:pic>
        <p:nvPicPr>
          <p:cNvPr id="4" name="Picture 3" descr="phase2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42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Box-whisker plots showing volatility patterns across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Correlation Analysis</a:t>
            </a:r>
          </a:p>
        </p:txBody>
      </p:sp>
      <p:pic>
        <p:nvPicPr>
          <p:cNvPr id="4" name="Picture 3" descr="phase2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8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Correlation matrix reveals strong relationships between markets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COVID-19 Impact Analysis</a:t>
            </a:r>
          </a:p>
        </p:txBody>
      </p:sp>
      <p:pic>
        <p:nvPicPr>
          <p:cNvPr id="4" name="Picture 3" descr="phase2_co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495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Market behavior during pandemic phases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Global Indices vs Nifty Direction</a:t>
            </a:r>
          </a:p>
        </p:txBody>
      </p:sp>
      <p:pic>
        <p:nvPicPr>
          <p:cNvPr id="4" name="Picture 3" descr="phase2_nifty_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70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Relationship between global markets and Nifty 50 movements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Phase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Binary Logistic Regression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Logistic Regression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Objective: Predict Nifty 50 direction (Up/Down)</a:t>
            </a:r>
          </a:p>
          <a:p>
            <a:pPr>
              <a:spcAft>
                <a:spcPts val="1200"/>
              </a:spcAft>
              <a:defRPr sz="1800"/>
            </a:pPr>
            <a:r>
              <a:t>Initial Model: All 6 market return variables</a:t>
            </a:r>
          </a:p>
          <a:p>
            <a:pPr>
              <a:spcAft>
                <a:spcPts val="1200"/>
              </a:spcAft>
              <a:defRPr sz="1800"/>
            </a:pPr>
            <a:r>
              <a:t>VIF Analysis: Check for multicollinearity</a:t>
            </a:r>
          </a:p>
          <a:p>
            <a:pPr>
              <a:spcAft>
                <a:spcPts val="1200"/>
              </a:spcAft>
              <a:defRPr sz="1800"/>
            </a:pPr>
            <a:r>
              <a:t>Refined Model: 4 significant variables</a:t>
            </a:r>
          </a:p>
          <a:p>
            <a:pPr>
              <a:spcAft>
                <a:spcPts val="1200"/>
              </a:spcAft>
              <a:defRPr sz="1800"/>
            </a:pPr>
            <a:r>
              <a:t>  • HangSeng_Return</a:t>
            </a:r>
          </a:p>
          <a:p>
            <a:pPr>
              <a:spcAft>
                <a:spcPts val="1200"/>
              </a:spcAft>
              <a:defRPr sz="1800"/>
            </a:pPr>
            <a:r>
              <a:t>  • Nikkei_Return</a:t>
            </a:r>
          </a:p>
          <a:p>
            <a:pPr>
              <a:spcAft>
                <a:spcPts val="1200"/>
              </a:spcAft>
              <a:defRPr sz="1800"/>
            </a:pPr>
            <a:r>
              <a:t>  • DAX_Return</a:t>
            </a:r>
          </a:p>
          <a:p>
            <a:pPr>
              <a:spcAft>
                <a:spcPts val="1200"/>
              </a:spcAft>
              <a:defRPr sz="1800"/>
            </a:pPr>
            <a:r>
              <a:t>  • VIX_Return</a:t>
            </a:r>
          </a:p>
          <a:p>
            <a:pPr>
              <a:spcAft>
                <a:spcPts val="1200"/>
              </a:spcAft>
              <a:defRPr sz="1800"/>
            </a:pPr>
            <a:r>
              <a:t>Optimal threshold: 0.4753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Logistic Regression - ROC Curves</a:t>
            </a:r>
          </a:p>
        </p:txBody>
      </p:sp>
      <p:pic>
        <p:nvPicPr>
          <p:cNvPr id="4" name="Picture 3" descr="phase3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97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Model performance on training and test datasets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Logistic Regression - Confusion Matrices</a:t>
            </a:r>
          </a:p>
        </p:txBody>
      </p:sp>
      <p:pic>
        <p:nvPicPr>
          <p:cNvPr id="4" name="Picture 3" descr="phase3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072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Classification performance with optimal threshold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Phase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Machine Learning Models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Gaussian Naive Bayes</a:t>
            </a:r>
          </a:p>
          <a:p>
            <a:pPr>
              <a:spcAft>
                <a:spcPts val="1200"/>
              </a:spcAft>
              <a:defRPr sz="1800"/>
            </a:pPr>
            <a:r>
              <a:t>   • Probabilistic classifier</a:t>
            </a:r>
          </a:p>
          <a:p>
            <a:pPr>
              <a:spcAft>
                <a:spcPts val="1200"/>
              </a:spcAft>
              <a:defRPr sz="1800"/>
            </a:pPr>
            <a:r>
              <a:t>   • Fast training and prediction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Decision Tree Classifier</a:t>
            </a:r>
          </a:p>
          <a:p>
            <a:pPr>
              <a:spcAft>
                <a:spcPts val="1200"/>
              </a:spcAft>
              <a:defRPr sz="1800"/>
            </a:pPr>
            <a:r>
              <a:t>   • Rule-based decisions</a:t>
            </a:r>
          </a:p>
          <a:p>
            <a:pPr>
              <a:spcAft>
                <a:spcPts val="1200"/>
              </a:spcAft>
              <a:defRPr sz="1800"/>
            </a:pPr>
            <a:r>
              <a:t>   • Easy to interpret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Random Forest Classifier</a:t>
            </a:r>
          </a:p>
          <a:p>
            <a:pPr>
              <a:spcAft>
                <a:spcPts val="1200"/>
              </a:spcAft>
              <a:defRPr sz="1800"/>
            </a:pPr>
            <a:r>
              <a:t>   • Ensemble of decision trees</a:t>
            </a:r>
          </a:p>
          <a:p>
            <a:pPr>
              <a:spcAft>
                <a:spcPts val="1200"/>
              </a:spcAft>
              <a:defRPr sz="1800"/>
            </a:pPr>
            <a:r>
              <a:t>   • Robust and less prone to overfitting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Naive Bayes - ROC Curves</a:t>
            </a:r>
          </a:p>
        </p:txBody>
      </p:sp>
      <p:pic>
        <p:nvPicPr>
          <p:cNvPr id="4" name="Picture 3" descr="phase4_nb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97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Decision Tree - ROC Curves</a:t>
            </a:r>
          </a:p>
        </p:txBody>
      </p:sp>
      <p:pic>
        <p:nvPicPr>
          <p:cNvPr id="4" name="Picture 3" descr="phase4_dt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97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Random Forest - ROC Curves</a:t>
            </a:r>
          </a:p>
        </p:txBody>
      </p:sp>
      <p:pic>
        <p:nvPicPr>
          <p:cNvPr id="4" name="Picture 3" descr="phase4_rf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974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Model Performance Comparison (AUC Scores):</a:t>
            </a:r>
          </a:p>
          <a:p>
            <a:pPr>
              <a:spcAft>
                <a:spcPts val="1200"/>
              </a:spcAft>
              <a:defRPr sz="1800"/>
            </a:pPr>
            <a:r>
              <a:t>Gaussian Naive Bayes: Train=0.612, Test=0.540</a:t>
            </a:r>
          </a:p>
          <a:p>
            <a:pPr>
              <a:spcAft>
                <a:spcPts val="1200"/>
              </a:spcAft>
              <a:defRPr sz="1800"/>
            </a:pPr>
            <a:r>
              <a:t>Decision Tree Classifier: Train=0.698, Test=0.507</a:t>
            </a:r>
          </a:p>
          <a:p>
            <a:pPr>
              <a:spcAft>
                <a:spcPts val="1200"/>
              </a:spcAft>
              <a:defRPr sz="1800"/>
            </a:pPr>
            <a:r>
              <a:t>Random Forest Classifier: Train=0.664, Test=0.546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Phase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Text Mining &amp; Sentiment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Text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Data Source: Twitter/X posts about Nifty50</a:t>
            </a:r>
          </a:p>
          <a:p>
            <a:pPr>
              <a:spcAft>
                <a:spcPts val="1200"/>
              </a:spcAft>
              <a:defRPr sz="1800"/>
            </a:pPr>
            <a:r>
              <a:t>Text Preprocessing Pipeline:</a:t>
            </a:r>
          </a:p>
          <a:p>
            <a:pPr>
              <a:spcAft>
                <a:spcPts val="1200"/>
              </a:spcAft>
              <a:defRPr sz="1800"/>
            </a:pPr>
            <a:r>
              <a:t>  • Lowercase conversion</a:t>
            </a:r>
          </a:p>
          <a:p>
            <a:pPr>
              <a:spcAft>
                <a:spcPts val="1200"/>
              </a:spcAft>
              <a:defRPr sz="1800"/>
            </a:pPr>
            <a:r>
              <a:t>  • Remove mentions, hashtags, URLs</a:t>
            </a:r>
          </a:p>
          <a:p>
            <a:pPr>
              <a:spcAft>
                <a:spcPts val="1200"/>
              </a:spcAft>
              <a:defRPr sz="1800"/>
            </a:pPr>
            <a:r>
              <a:t>  • Remove punctuation and digits</a:t>
            </a:r>
          </a:p>
          <a:p>
            <a:pPr>
              <a:spcAft>
                <a:spcPts val="1200"/>
              </a:spcAft>
              <a:defRPr sz="1800"/>
            </a:pPr>
            <a:r>
              <a:t>  • Remove stopwords</a:t>
            </a:r>
          </a:p>
          <a:p>
            <a:pPr>
              <a:spcAft>
                <a:spcPts val="1200"/>
              </a:spcAft>
              <a:defRPr sz="1800"/>
            </a:pPr>
            <a:r>
              <a:t>  • Remove domain-specific words</a:t>
            </a:r>
          </a:p>
          <a:p>
            <a:pPr>
              <a:spcAft>
                <a:spcPts val="1200"/>
              </a:spcAft>
              <a:defRPr sz="1800"/>
            </a:pPr>
            <a:r>
              <a:t>Analysis Methods:</a:t>
            </a:r>
          </a:p>
          <a:p>
            <a:pPr>
              <a:spcAft>
                <a:spcPts val="1200"/>
              </a:spcAft>
              <a:defRPr sz="1800"/>
            </a:pPr>
            <a:r>
              <a:t>  • Word Cloud for topic identification</a:t>
            </a:r>
          </a:p>
          <a:p>
            <a:pPr>
              <a:spcAft>
                <a:spcPts val="1200"/>
              </a:spcAft>
              <a:defRPr sz="1800"/>
            </a:pPr>
            <a:r>
              <a:t>  • VADER sentiment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Word Cloud - Key Topics</a:t>
            </a:r>
          </a:p>
        </p:txBody>
      </p:sp>
      <p:pic>
        <p:nvPicPr>
          <p:cNvPr id="4" name="Picture 3" descr="phase5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Most frequent words in Nifty50 discussions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Sentiment Breakdown</a:t>
            </a:r>
          </a:p>
        </p:txBody>
      </p:sp>
      <p:pic>
        <p:nvPicPr>
          <p:cNvPr id="4" name="Picture 3" descr="phase5_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47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Proportion of positive, negative, and neutral sentiments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Key Findings and Recommendations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Global markets show strong correlations</a:t>
            </a:r>
          </a:p>
          <a:p>
            <a:pPr>
              <a:spcAft>
                <a:spcPts val="1200"/>
              </a:spcAft>
              <a:defRPr sz="1800"/>
            </a:pPr>
            <a:r>
              <a:t>Significant predictors: HangSeng, Nikkei, DAX, VIX</a:t>
            </a:r>
          </a:p>
          <a:p>
            <a:pPr>
              <a:spcAft>
                <a:spcPts val="1200"/>
              </a:spcAft>
              <a:defRPr sz="1800"/>
            </a:pPr>
            <a:r>
              <a:t>Machine learning models show comparable performance</a:t>
            </a:r>
          </a:p>
          <a:p>
            <a:pPr>
              <a:spcAft>
                <a:spcPts val="1200"/>
              </a:spcAft>
              <a:defRPr sz="1800"/>
            </a:pPr>
            <a:r>
              <a:t>Random Forest slightly outperforms other models</a:t>
            </a:r>
          </a:p>
          <a:p>
            <a:pPr>
              <a:spcAft>
                <a:spcPts val="1200"/>
              </a:spcAft>
              <a:defRPr sz="1800"/>
            </a:pPr>
            <a:r>
              <a:t>Sentiment analysis reveals market mood</a:t>
            </a:r>
          </a:p>
          <a:p>
            <a:pPr>
              <a:spcAft>
                <a:spcPts val="1200"/>
              </a:spcAft>
              <a:defRPr sz="1800"/>
            </a:pPr>
            <a:r>
              <a:t>COVID-19 had significant impact on volatility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Use ensemble of multiple models for predictions</a:t>
            </a:r>
          </a:p>
          <a:p>
            <a:pPr>
              <a:spcAft>
                <a:spcPts val="1200"/>
              </a:spcAft>
              <a:defRPr sz="1800"/>
            </a:pPr>
            <a:r>
              <a:t>Monitor VIX for volatility signals</a:t>
            </a:r>
          </a:p>
          <a:p>
            <a:pPr>
              <a:spcAft>
                <a:spcPts val="1200"/>
              </a:spcAft>
              <a:defRPr sz="1800"/>
            </a:pPr>
            <a:r>
              <a:t>Consider sentiment analysis as additional feature</a:t>
            </a:r>
          </a:p>
          <a:p>
            <a:pPr>
              <a:spcAft>
                <a:spcPts val="1200"/>
              </a:spcAft>
              <a:defRPr sz="1800"/>
            </a:pPr>
            <a:r>
              <a:t>Regular model retraining with new data</a:t>
            </a:r>
          </a:p>
          <a:p>
            <a:pPr>
              <a:spcAft>
                <a:spcPts val="1200"/>
              </a:spcAft>
              <a:defRPr sz="1800"/>
            </a:pPr>
            <a:r>
              <a:t>Combine technical and sentiment indicators</a:t>
            </a:r>
          </a:p>
          <a:p>
            <a:pPr>
              <a:spcAft>
                <a:spcPts val="1200"/>
              </a:spcAft>
              <a:defRPr sz="1800"/>
            </a:pPr>
            <a:r>
              <a:t>Account for global market interdependencies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